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7320" autoAdjust="0"/>
  </p:normalViewPr>
  <p:slideViewPr>
    <p:cSldViewPr snapToGrid="0" snapToObjects="1">
      <p:cViewPr varScale="1">
        <p:scale>
          <a:sx n="55" d="100"/>
          <a:sy n="55" d="100"/>
        </p:scale>
        <p:origin x="171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460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Chào</a:t>
            </a:r>
            <a:r>
              <a:rPr dirty="0"/>
              <a:t> </a:t>
            </a:r>
            <a:r>
              <a:rPr dirty="0" err="1"/>
              <a:t>mọi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.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này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benchmark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ICBHI 2017 —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âm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hô</a:t>
            </a:r>
            <a:r>
              <a:rPr dirty="0"/>
              <a:t> </a:t>
            </a:r>
            <a:r>
              <a:rPr dirty="0" err="1"/>
              <a:t>hấp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Mạch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bày</a:t>
            </a:r>
            <a:r>
              <a:rPr dirty="0"/>
              <a:t>: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giả</a:t>
            </a:r>
            <a:r>
              <a:rPr dirty="0"/>
              <a:t> </a:t>
            </a:r>
            <a:r>
              <a:rPr dirty="0" err="1"/>
              <a:t>thuyết</a:t>
            </a:r>
            <a:r>
              <a:rPr dirty="0"/>
              <a:t>,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, </a:t>
            </a:r>
            <a:r>
              <a:rPr dirty="0" err="1"/>
              <a:t>giả</a:t>
            </a:r>
            <a:r>
              <a:rPr dirty="0"/>
              <a:t> </a:t>
            </a:r>
            <a:r>
              <a:rPr dirty="0" err="1"/>
              <a:t>thuyết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bác</a:t>
            </a:r>
            <a:r>
              <a:rPr dirty="0"/>
              <a:t> </a:t>
            </a:r>
            <a:r>
              <a:rPr dirty="0" err="1"/>
              <a:t>bỏ</a:t>
            </a:r>
            <a:r>
              <a:rPr dirty="0"/>
              <a:t>, </a:t>
            </a:r>
            <a:r>
              <a:rPr dirty="0" err="1"/>
              <a:t>rồi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vì</a:t>
            </a:r>
            <a:r>
              <a:rPr dirty="0"/>
              <a:t> </a:t>
            </a:r>
            <a:r>
              <a:rPr dirty="0" err="1"/>
              <a:t>sao</a:t>
            </a:r>
            <a:r>
              <a:rPr dirty="0"/>
              <a:t>.</a:t>
            </a:r>
          </a:p>
          <a:p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cuối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âm</a:t>
            </a:r>
            <a:r>
              <a:rPr dirty="0"/>
              <a:t> —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ba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phụ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trị</a:t>
            </a:r>
            <a:r>
              <a:rPr dirty="0"/>
              <a:t>,</a:t>
            </a:r>
          </a:p>
          <a:p>
            <a:r>
              <a:rPr dirty="0" err="1"/>
              <a:t>nên</a:t>
            </a:r>
            <a:r>
              <a:rPr dirty="0"/>
              <a:t> </a:t>
            </a:r>
            <a:r>
              <a:rPr dirty="0" err="1"/>
              <a:t>xin</a:t>
            </a:r>
            <a:r>
              <a:rPr dirty="0"/>
              <a:t> </a:t>
            </a:r>
            <a:r>
              <a:rPr dirty="0" err="1"/>
              <a:t>mọi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kiên</a:t>
            </a:r>
            <a:r>
              <a:rPr dirty="0"/>
              <a:t> </a:t>
            </a:r>
            <a:r>
              <a:rPr dirty="0" err="1"/>
              <a:t>nhẫn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cuối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Đầu vào là âm thanh ống nghe. Nhưng đơn vị phân loại KHÔNG phải cả bản ghi, mà là</a:t>
            </a:r>
          </a:p>
          <a:p>
            <a:r>
              <a:t>từng chu kỳ thở — mỗi bản ghi được cắt thành nhiều chu kỳ theo file chú thích đi kèm.</a:t>
            </a:r>
          </a:p>
          <a:p>
            <a:endParaRPr/>
          </a:p>
          <a:p>
            <a:r>
              <a:t>920 bản ghi cho ra 6.898 chu kỳ. Bốn lớp: bình thường, có ran nổ (crackle),</a:t>
            </a:r>
          </a:p>
          <a:p>
            <a:r>
              <a:t>có ran rít (wheeze), và có cả hai.</a:t>
            </a:r>
          </a:p>
          <a:p>
            <a:endParaRPr/>
          </a:p>
          <a:p>
            <a:r>
              <a:t>Điểm cần nhớ: lớp "both" chỉ có 506 chu kỳ, bằng 1/7 lớp normal. Đây là nguồn</a:t>
            </a:r>
          </a:p>
          <a:p>
            <a:r>
              <a:t>mất cân bằng thật, và cuối bài sẽ thấy nó quan trọng thế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Sáu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, </a:t>
            </a: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quyết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(a)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bố</a:t>
            </a:r>
            <a:r>
              <a:rPr dirty="0"/>
              <a:t> 4 </a:t>
            </a:r>
            <a:r>
              <a:rPr dirty="0" err="1"/>
              <a:t>lớp</a:t>
            </a:r>
            <a:r>
              <a:rPr dirty="0"/>
              <a:t> —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thấy</a:t>
            </a:r>
            <a:r>
              <a:rPr dirty="0"/>
              <a:t> both </a:t>
            </a:r>
            <a:r>
              <a:rPr dirty="0" err="1"/>
              <a:t>chỉ</a:t>
            </a:r>
            <a:r>
              <a:rPr dirty="0"/>
              <a:t> 7,3 %.</a:t>
            </a:r>
          </a:p>
          <a:p>
            <a:r>
              <a:rPr dirty="0"/>
              <a:t>(b) CÂN BẰNG HAI NHÓM </a:t>
            </a:r>
            <a:r>
              <a:rPr dirty="0" err="1"/>
              <a:t>giữa</a:t>
            </a:r>
            <a:r>
              <a:rPr dirty="0"/>
              <a:t> train </a:t>
            </a:r>
            <a:r>
              <a:rPr dirty="0" err="1"/>
              <a:t>và</a:t>
            </a:r>
            <a:r>
              <a:rPr dirty="0"/>
              <a:t> test —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, quay </a:t>
            </a:r>
            <a:r>
              <a:rPr dirty="0" err="1"/>
              <a:t>lại</a:t>
            </a:r>
            <a:r>
              <a:rPr dirty="0"/>
              <a:t> ở </a:t>
            </a:r>
            <a:r>
              <a:rPr dirty="0" err="1"/>
              <a:t>cuối</a:t>
            </a:r>
            <a:r>
              <a:rPr dirty="0"/>
              <a:t> </a:t>
            </a:r>
            <a:r>
              <a:rPr dirty="0" err="1"/>
              <a:t>bài</a:t>
            </a:r>
            <a:r>
              <a:rPr dirty="0"/>
              <a:t>.</a:t>
            </a:r>
          </a:p>
          <a:p>
            <a:r>
              <a:rPr dirty="0"/>
              <a:t>(c) </a:t>
            </a:r>
            <a:r>
              <a:rPr dirty="0" err="1"/>
              <a:t>tỉ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—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yếu</a:t>
            </a:r>
            <a:r>
              <a:rPr dirty="0"/>
              <a:t> </a:t>
            </a:r>
            <a:r>
              <a:rPr dirty="0" err="1"/>
              <a:t>tố</a:t>
            </a:r>
            <a:r>
              <a:rPr dirty="0"/>
              <a:t> </a:t>
            </a:r>
            <a:r>
              <a:rPr dirty="0" err="1"/>
              <a:t>gây</a:t>
            </a:r>
            <a:r>
              <a:rPr dirty="0"/>
              <a:t> </a:t>
            </a:r>
            <a:r>
              <a:rPr dirty="0" err="1"/>
              <a:t>nhiễu</a:t>
            </a:r>
            <a:r>
              <a:rPr dirty="0"/>
              <a:t>.</a:t>
            </a:r>
          </a:p>
          <a:p>
            <a:r>
              <a:rPr dirty="0"/>
              <a:t>(d)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chiếm</a:t>
            </a:r>
            <a:r>
              <a:rPr dirty="0"/>
              <a:t> 63 %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.</a:t>
            </a:r>
          </a:p>
          <a:p>
            <a:r>
              <a:rPr dirty="0"/>
              <a:t>(e) 96,6 % chu </a:t>
            </a:r>
            <a:r>
              <a:rPr dirty="0" err="1"/>
              <a:t>kỳ</a:t>
            </a:r>
            <a:r>
              <a:rPr dirty="0"/>
              <a:t> </a:t>
            </a:r>
            <a:r>
              <a:rPr dirty="0" err="1"/>
              <a:t>ngắn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</a:t>
            </a:r>
            <a:r>
              <a:rPr dirty="0" err="1"/>
              <a:t>cửa</a:t>
            </a:r>
            <a:r>
              <a:rPr dirty="0"/>
              <a:t> </a:t>
            </a:r>
            <a:r>
              <a:rPr dirty="0" err="1"/>
              <a:t>sổ</a:t>
            </a:r>
            <a:r>
              <a:rPr dirty="0"/>
              <a:t> 5 </a:t>
            </a:r>
            <a:r>
              <a:rPr dirty="0" err="1"/>
              <a:t>giây</a:t>
            </a:r>
            <a:r>
              <a:rPr dirty="0"/>
              <a:t>.</a:t>
            </a:r>
          </a:p>
          <a:p>
            <a:r>
              <a:rPr dirty="0"/>
              <a:t>(f) </a:t>
            </a:r>
            <a:r>
              <a:rPr dirty="0" err="1"/>
              <a:t>bảy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trí</a:t>
            </a:r>
            <a:r>
              <a:rPr dirty="0"/>
              <a:t>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ống</a:t>
            </a:r>
            <a:r>
              <a:rPr dirty="0"/>
              <a:t> </a:t>
            </a:r>
            <a:r>
              <a:rPr dirty="0" err="1"/>
              <a:t>nghe</a:t>
            </a:r>
            <a:r>
              <a:rPr dirty="0"/>
              <a:t> —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bốn</a:t>
            </a:r>
            <a:r>
              <a:rPr dirty="0"/>
              <a:t> </a:t>
            </a:r>
            <a:r>
              <a:rPr dirty="0" err="1"/>
              <a:t>trường</a:t>
            </a:r>
            <a:r>
              <a:rPr dirty="0"/>
              <a:t> metadata </a:t>
            </a:r>
            <a:r>
              <a:rPr dirty="0" err="1"/>
              <a:t>dùng</a:t>
            </a:r>
            <a:r>
              <a:rPr dirty="0"/>
              <a:t> ở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tiến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 điều này quyết định toàn bộ phần sau, nên nêu sớm.</a:t>
            </a:r>
          </a:p>
          <a:p>
            <a:endParaRPr/>
          </a:p>
          <a:p>
            <a:r>
              <a:t>Một: train gần như cân bằng 50-50 giữa normal và bất thường, còn test lệch hẳn về normal.</a:t>
            </a:r>
          </a:p>
          <a:p>
            <a:r>
              <a:t>Đây là gốc rễ khiến hai cải tiến của hướng B thất bại.</a:t>
            </a:r>
          </a:p>
          <a:p>
            <a:endParaRPr/>
          </a:p>
          <a:p>
            <a:r>
              <a:t>Hai: mỗi thiết bị nhìn thấy một phân bố lớp rất khác nhau. Meditron 71 % normal,</a:t>
            </a:r>
          </a:p>
          <a:p>
            <a:r>
              <a:t>AKGC417L chỉ 44 %. Nên đưa thiết bị vào làm đặc trưng là mời mô hình học đường tắt</a:t>
            </a:r>
          </a:p>
          <a:p>
            <a:r>
              <a:t>theo nhóm bệnh nhân thay vì học âm học.</a:t>
            </a:r>
          </a:p>
          <a:p>
            <a:endParaRPr/>
          </a:p>
          <a:p>
            <a:r>
              <a:t>Ba: chu kỳ trung bình chỉ 2,7 giây trong khi cửa sổ là 5 giây. Ta lặp lại tín hiệu</a:t>
            </a:r>
          </a:p>
          <a:p>
            <a:r>
              <a:t>cho đủ, không đệm số 0 — đệm 0 tạo khoảng lặng nhân tạo không có trong âm thanh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 là tỉ lệ chu kỳ normal phân loại đúng. Se là tỉ lệ chu kỳ bất thường phân loại đúng,</a:t>
            </a:r>
          </a:p>
          <a:p>
            <a:r>
              <a:t>gộp cả ba lớp. Score là trung bình cộng của hai cái.</a:t>
            </a:r>
          </a:p>
          <a:p>
            <a:endParaRPr/>
          </a:p>
          <a:p>
            <a:r>
              <a:t>Vì sao không dùng accuracy? Thử một mô hình luôn đoán normal cho mọi mẫu — hoàn toàn</a:t>
            </a:r>
          </a:p>
          <a:p>
            <a:r>
              <a:t>vô dụng về mặt lâm sàng vì không phát hiện được ca bệnh nào.</a:t>
            </a:r>
          </a:p>
          <a:p>
            <a:endParaRPr/>
          </a:p>
          <a:p>
            <a:r>
              <a:t>Accuracy vẫn cho 52,80 % vì lớp normal chiếm 52,8 % dữ liệu. Nghe được. Nhưng Se bằng 0</a:t>
            </a:r>
          </a:p>
          <a:p>
            <a:r>
              <a:t>phơi bày ngay vấn đề, và Score chỉ 50.</a:t>
            </a:r>
          </a:p>
          <a:p>
            <a:endParaRPr/>
          </a:p>
          <a:p>
            <a:r>
              <a:t>Đây là lý do phải cảnh giác với bài báo chỉ báo cáo accuracy trên ICBHI.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Phần lớn khoảng chênh lệch khổng lồ này đến từ giao thức đánh giá, không phải từ</a:t>
            </a:r>
          </a:p>
          <a:p>
            <a:r>
              <a:t>chất lượng mô hình.</a:t>
            </a:r>
          </a:p>
          <a:p>
            <a:endParaRPr/>
          </a:p>
          <a:p>
            <a:r>
              <a:t>Chỉ giao thức đầu tiên mới là benchmark thật. Giao thức thứ hai là một dòng nghiên cứu</a:t>
            </a:r>
          </a:p>
          <a:p>
            <a:r>
              <a:t>khác, không so trực tiếp được. Giao thức thứ ba là sai: chia ngẫu nhiên ở mức chu kỳ</a:t>
            </a:r>
          </a:p>
          <a:p>
            <a:r>
              <a:t>nghĩa là cùng một bệnh nhân xuất hiện ở cả train lẫn test, mô hình học thuộc bệnh nhân</a:t>
            </a:r>
          </a:p>
          <a:p>
            <a:r>
              <a:t>chứ không học bệnh lý.</a:t>
            </a:r>
          </a:p>
          <a:p>
            <a:endParaRPr/>
          </a:p>
          <a:p>
            <a:r>
              <a:t>Nên khi thấy bài nào công bố trên 95 % trên ICBHI, gần như chắc chắn là trường hợp thứ 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27 phương pháp công bố từ 2020 đến 2026, tất cả trên cùng giao thức Official 60/40.</a:t>
            </a:r>
          </a:p>
          <a:p>
            <a:endParaRPr/>
          </a:p>
          <a:p>
            <a:r>
              <a:t>Cách tổng hợp quan trọng: tôi không gom góp từ các abstract rời rạc, mà lấy từ bốn bài báo</a:t>
            </a:r>
          </a:p>
          <a:p>
            <a:r>
              <a:t>đều tự tái lập lại kết quả của nhau — BTS, Ensemble-KD, QLung, PAFA. Nhờ vậy các dòng</a:t>
            </a:r>
          </a:p>
          <a:p>
            <a:r>
              <a:t>trong bảng nhất quán với nhau.</a:t>
            </a:r>
          </a:p>
          <a:p>
            <a:endParaRPr/>
          </a:p>
          <a:p>
            <a:r>
              <a:t>Tiêu chí nhận vào: đúng file phân chia chính thức, báo cáo đủ Sp/Se/Score, và trên bài toán</a:t>
            </a:r>
          </a:p>
          <a:p>
            <a:r>
              <a:t>4 lớp ở mức chu kỳ thở.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 thế hệ backbone tách thành ba cụm rất rõ.</a:t>
            </a:r>
          </a:p>
          <a:p>
            <a:endParaRPr/>
          </a:p>
          <a:p>
            <a:r>
              <a:t>CNN và ResNet, từ 2020 đến 2023, chạm trần ngay dưới 60 điểm.</a:t>
            </a:r>
          </a:p>
          <a:p>
            <a:r>
              <a:t>AST nhảy lên một bậc, 59 đến 62.</a:t>
            </a:r>
          </a:p>
          <a:p>
            <a:r>
              <a:t>Thế hệ BEATs, CLAP và State-Space Model lên bậc thứ hai, 62 đến 66.</a:t>
            </a:r>
          </a:p>
          <a:p>
            <a:endParaRPr/>
          </a:p>
          <a:p>
            <a:r>
              <a:t>Ranh giới không nằm ở phương pháp mà ở backbone: mọi mô hình trên 62 điểm đều dùng</a:t>
            </a:r>
          </a:p>
          <a:p>
            <a:r>
              <a:t>nền tiền huấn luyện quy mô lớn. Dòng được tô sáng là BEATs + CE — mốc đối chứng của đồ án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Bảy dòng tiêu biểu. Chú ý dòng BEATs + CE được in đậm — sẽ giải thích ở slide sau.</a:t>
            </a:r>
          </a:p>
          <a:p>
            <a:endParaRPr/>
          </a:p>
          <a:p>
            <a:r>
              <a:t>Trần thực tế cho một mô hình đơn là 64,5 đến 65,5. Con số 66,49 ở trên cùng cần ensemble</a:t>
            </a:r>
          </a:p>
          <a:p>
            <a:r>
              <a:t>tốn gấp 30 lần tài nguyên, nên không so trực tiếp được.</a:t>
            </a:r>
          </a:p>
          <a:p>
            <a:endParaRPr/>
          </a:p>
          <a:p>
            <a:r>
              <a:t>Nghĩa là: một mô hình đơn đạt 63 đến 65 đã là kết quả cạnh tranh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Đây là phát hiện định hình toàn bộ đồ án.</a:t>
            </a:r>
          </a:p>
          <a:p>
            <a:endParaRPr/>
          </a:p>
          <a:p>
            <a:r>
              <a:t>BEATs với cross-entropy thuần — không thêm bất kỳ kỹ thuật nào — đạt 63,49. Cao hơn</a:t>
            </a:r>
          </a:p>
          <a:p>
            <a:r>
              <a:t>AST + Patch-Mix, vốn là SOTA được trích dẫn nhiều nhất, và ngang BTS vốn cần cả một</a:t>
            </a:r>
          </a:p>
          <a:p>
            <a:r>
              <a:t>mô hình text-audio.</a:t>
            </a:r>
          </a:p>
          <a:p>
            <a:endParaRPr/>
          </a:p>
          <a:p>
            <a:r>
              <a:t>Nghĩa là bốn năm cải tiến phương pháp trên nền AST thực chất bị nghẽn ở backbone.</a:t>
            </a:r>
          </a:p>
          <a:p>
            <a:endParaRPr/>
          </a:p>
          <a:p>
            <a:r>
              <a:t>Hệ quả trực tiếp cho đồ án: mốc phải vượt là 63,49 chứ không phải 62,37. Nếu lấy 62,37</a:t>
            </a:r>
          </a:p>
          <a:p>
            <a:r>
              <a:t>làm mốc thì chỉ cần đổi backbone là đã "thắng", mà như thế chẳng chứng minh được gì.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BEATs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chưng</a:t>
            </a:r>
            <a:r>
              <a:rPr dirty="0"/>
              <a:t> </a:t>
            </a:r>
            <a:r>
              <a:rPr dirty="0" err="1"/>
              <a:t>cất</a:t>
            </a:r>
            <a:r>
              <a:rPr dirty="0"/>
              <a:t> </a:t>
            </a:r>
            <a:r>
              <a:rPr dirty="0" err="1"/>
              <a:t>lẫn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 qua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vòng</a:t>
            </a:r>
            <a:r>
              <a:rPr dirty="0"/>
              <a:t> </a:t>
            </a:r>
            <a:r>
              <a:rPr dirty="0" err="1"/>
              <a:t>lặp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Acoustic Tokenizer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nhãn</a:t>
            </a:r>
            <a:r>
              <a:rPr dirty="0"/>
              <a:t> </a:t>
            </a:r>
            <a:r>
              <a:rPr dirty="0" err="1"/>
              <a:t>rời</a:t>
            </a:r>
            <a:r>
              <a:rPr dirty="0"/>
              <a:t> </a:t>
            </a:r>
            <a:r>
              <a:rPr dirty="0" err="1"/>
              <a:t>rạc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âm</a:t>
            </a:r>
            <a:r>
              <a:rPr dirty="0"/>
              <a:t> </a:t>
            </a:r>
            <a:r>
              <a:rPr dirty="0" err="1"/>
              <a:t>thanh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nhãn</a:t>
            </a:r>
            <a:r>
              <a:rPr dirty="0"/>
              <a:t>.</a:t>
            </a:r>
          </a:p>
          <a:p>
            <a:r>
              <a:rPr dirty="0"/>
              <a:t>Audio SSL Model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đoán</a:t>
            </a:r>
            <a:r>
              <a:rPr dirty="0"/>
              <a:t> token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— masked audio modeling.</a:t>
            </a:r>
          </a:p>
          <a:p>
            <a:endParaRPr dirty="0"/>
          </a:p>
          <a:p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vòng</a:t>
            </a:r>
            <a:r>
              <a:rPr dirty="0"/>
              <a:t>,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SSL </a:t>
            </a:r>
            <a:r>
              <a:rPr dirty="0" err="1"/>
              <a:t>dạy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 tokenizer qua Knowledge Distillation, </a:t>
            </a:r>
            <a:r>
              <a:rPr dirty="0" err="1"/>
              <a:t>rồi</a:t>
            </a:r>
            <a:r>
              <a:rPr dirty="0"/>
              <a:t> tokenizer </a:t>
            </a:r>
            <a:r>
              <a:rPr dirty="0" err="1"/>
              <a:t>sinh</a:t>
            </a:r>
            <a:endParaRPr dirty="0"/>
          </a:p>
          <a:p>
            <a:r>
              <a:rPr dirty="0" err="1"/>
              <a:t>nhãn</a:t>
            </a:r>
            <a:r>
              <a:rPr dirty="0"/>
              <a:t> </a:t>
            </a:r>
            <a:r>
              <a:rPr dirty="0" err="1"/>
              <a:t>tốt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vòng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. </a:t>
            </a:r>
            <a:r>
              <a:rPr dirty="0" err="1"/>
              <a:t>Lặp</a:t>
            </a:r>
            <a:r>
              <a:rPr dirty="0"/>
              <a:t> </a:t>
            </a:r>
            <a:r>
              <a:rPr dirty="0" err="1"/>
              <a:t>ba</a:t>
            </a:r>
            <a:r>
              <a:rPr dirty="0"/>
              <a:t> </a:t>
            </a:r>
            <a:r>
              <a:rPr dirty="0" err="1"/>
              <a:t>vòng</a:t>
            </a:r>
            <a:r>
              <a:rPr dirty="0"/>
              <a:t>: iter1, iter2, iter3.</a:t>
            </a:r>
          </a:p>
          <a:p>
            <a:endParaRPr dirty="0"/>
          </a:p>
          <a:p>
            <a:r>
              <a:rPr dirty="0"/>
              <a:t>Checkpoint ta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BEATs_iter3+ </a:t>
            </a:r>
            <a:r>
              <a:rPr dirty="0" err="1"/>
              <a:t>trên</a:t>
            </a:r>
            <a:r>
              <a:rPr dirty="0"/>
              <a:t> AudioSet-2M.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Hai loại tokenizer, dùng ở các vòng lặp khác nhau.</a:t>
            </a:r>
          </a:p>
          <a:p>
            <a:endParaRPr/>
          </a:p>
          <a:p>
            <a:r>
              <a:t>Panel (a) Random-Projection — dùng ở vòng 1. Chiếu spectrogram qua một lớp ngẫu nhiên,</a:t>
            </a:r>
          </a:p>
          <a:p>
            <a:r>
              <a:t>rồi tra láng giềng gần nhất trong codebook đóng băng để ra token. Không học gì cả,</a:t>
            </a:r>
          </a:p>
          <a:p>
            <a:r>
              <a:t>chỉ để khởi động.</a:t>
            </a:r>
          </a:p>
          <a:p>
            <a:endParaRPr/>
          </a:p>
          <a:p>
            <a:r>
              <a:t>Panel (b) Self-Distilled — dùng ở vòng 2 và 3. Codebook học được. Tokenizer bị ép khớp</a:t>
            </a:r>
          </a:p>
          <a:p>
            <a:r>
              <a:t>đầu ra của Teacher — chính là mô hình SSL của vòng trước — qua cosine similarity.</a:t>
            </a:r>
          </a:p>
          <a:p>
            <a:r>
              <a:t>Gradient truyền ngược qua bước rời rạc bằng straight-through estimator.</a:t>
            </a:r>
          </a:p>
          <a:p>
            <a:endParaRPr/>
          </a:p>
          <a:p>
            <a:r>
              <a:t>Panel (b) chính là mũi tên Knowledge Distillation ở hình trước.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Khác biệt cốt lõi nằm ở cách tiền huấn luyện.</a:t>
            </a:r>
          </a:p>
          <a:p>
            <a:endParaRPr/>
          </a:p>
          <a:p>
            <a:r>
              <a:t>AST học có giám sát trên 527 nhãn sự kiện của AudioSet, và khởi tạo từ ViT của ImageNet —</a:t>
            </a:r>
          </a:p>
          <a:p>
            <a:r>
              <a:t>tức là từ ảnh. BEATs học tự giám sát ngay trên dữ liệu âm thanh.</a:t>
            </a:r>
          </a:p>
          <a:p>
            <a:endParaRPr/>
          </a:p>
          <a:p>
            <a:r>
              <a:t>Số tham số gần như nhau, nhưng mAP trên AudioSet chênh gần 3 điểm.</a:t>
            </a:r>
          </a:p>
          <a:p>
            <a:endParaRPr/>
          </a:p>
          <a:p>
            <a:r>
              <a:t>Giả thuyết — và tôi nhấn mạnh đây chỉ là giả thuyết, chưa kiểm chứng: tiền huấn luyện</a:t>
            </a:r>
          </a:p>
          <a:p>
            <a:r>
              <a:t>tự giám sát học cấu trúc âm học mịn hơn, thay vì bị định hình bởi 527 nhãn sự kiện.</a:t>
            </a:r>
          </a:p>
          <a:p>
            <a:r>
              <a:t>Mà crackle với wheeze thì chẳng giống lớp nào trong AudioSet cả.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Biểu đồ này đặt cả 24 phương pháp lên mặt phẳng Sp – Se. Các đường chéo là những mức</a:t>
            </a:r>
          </a:p>
          <a:p>
            <a:r>
              <a:t>Score bằng nhau.</a:t>
            </a:r>
          </a:p>
          <a:p>
            <a:endParaRPr/>
          </a:p>
          <a:p>
            <a:r>
              <a:t>Điều đáng chú ý: mọi phương pháp đều đạt Specificity từ 63 đến 88, nhưng Sensitivity</a:t>
            </a:r>
          </a:p>
          <a:p>
            <a:r>
              <a:t>chỉ 18 đến 49. Chưa phương pháp công bố nào vượt Se bằng 50 — trong khi độ đo lại cân bằng</a:t>
            </a:r>
          </a:p>
          <a:p>
            <a:r>
              <a:t>hai thành phần.</a:t>
            </a:r>
          </a:p>
          <a:p>
            <a:endParaRPr/>
          </a:p>
          <a:p>
            <a:r>
              <a:t>Và tiến bộ từ 2020 đến nay đi sang phải, tức tăng Se, chứ không đi lên. Đó là dấu hiệu</a:t>
            </a:r>
          </a:p>
          <a:p>
            <a:r>
              <a:t>cho thấy dư địa nằm ở trục Se — và đó là lý do chọn hướng cải tiến ở slide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Hai hướng, đều có bằng chứng từ bài báo trước.</a:t>
            </a:r>
          </a:p>
          <a:p>
            <a:endParaRPr/>
          </a:p>
          <a:p>
            <a:r>
              <a:t>Hướng A: đưa metadata — thiết bị, vị trí nghe, tuổi, giới — vào BEATs qua cơ chế FiLM.</a:t>
            </a:r>
          </a:p>
          <a:p>
            <a:r>
              <a:t>BTS đạt +0,98 bằng cách này nhưng phải qua bộ mã hoá văn bản của CLAP. Ta lấy cùng thông tin</a:t>
            </a:r>
          </a:p>
          <a:p>
            <a:r>
              <a:t>đó đưa thẳng vào BEATs, rẻ hơn nhiều.</a:t>
            </a:r>
          </a:p>
          <a:p>
            <a:endParaRPr/>
          </a:p>
          <a:p>
            <a:r>
              <a:t>Hướng B là lập luận trung tâm. ICBHI Score chính xác là trung bình cộng của recall lớp normal</a:t>
            </a:r>
          </a:p>
          <a:p>
            <a:r>
              <a:t>và recall gộp của nhóm bất thường. Vậy hàm loss khớp với độ đo phải là cross-entropy cân bằng</a:t>
            </a:r>
          </a:p>
          <a:p>
            <a:r>
              <a:t>theo HAI NHÓM — không phải focal loss, cũng không phải CE cân bằng 4 lớp.</a:t>
            </a:r>
          </a:p>
          <a:p>
            <a:endParaRPr/>
          </a:p>
          <a:p>
            <a:r>
              <a:t>Chưa bài báo ICBHI nào tôi tìm thấy phát biểu bài toán theo cách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Bảng khảo sát loại bỏ. Nguyên tắc: mỗi dòng đúng MỘT thay đổi có kiểm soát so với dòng trên.</a:t>
            </a:r>
          </a:p>
          <a:p>
            <a:endParaRPr/>
          </a:p>
          <a:p>
            <a:r>
              <a:t>Dòng 0 là mốc đối chứng, và ta TỰ TRAIN LẠI chứ không lấy số từ bài báo. Lý do: chỉ khi</a:t>
            </a:r>
          </a:p>
          <a:p>
            <a:r>
              <a:t>dòng 0 đi qua đúng pipeline của mình thì hiệu số với dòng 4 mới có nghĩa. Nếu lấy số công bố,</a:t>
            </a:r>
          </a:p>
          <a:p>
            <a:r>
              <a:t>mọi khác biệt nhỏ trong tiền xử lý sẽ lẫn vào hiệu ứng của phương pháp.</a:t>
            </a:r>
          </a:p>
          <a:p>
            <a:endParaRPr/>
          </a:p>
          <a:p>
            <a:r>
              <a:t>Dòng 2 là hậu kỳ — không cần train lại, chỉ cộng một hằng số vào logit.</a:t>
            </a:r>
          </a:p>
          <a:p>
            <a:endParaRPr/>
          </a:p>
          <a:p>
            <a:r>
              <a:t>Siêu tham số lấy đúng theo PAFA để con số 63,49 có ý nghĩa so sánh.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Tám bước. Băng trên là tiền xử lý dữ liệu, băng dưới là mô hình.</a:t>
            </a:r>
          </a:p>
          <a:p>
            <a:endParaRPr/>
          </a:p>
          <a:p>
            <a:r>
              <a:t>Từ 920 file wav, cắt thành chu kỳ theo file chú thích, chuẩn hoá về 16 kHz mono và cache</a:t>
            </a:r>
          </a:p>
          <a:p>
            <a:r>
              <a:t>lại một lần, rồi chuẩn hoá độ dài về cửa sổ 5 giây.</a:t>
            </a:r>
          </a:p>
          <a:p>
            <a:endParaRPr/>
          </a:p>
          <a:p>
            <a:r>
              <a:t>Sang băng mô hình: BEATs tự tính fbank bên trong và trả về chuỗi đặc trưng, ta gộp trung bình</a:t>
            </a:r>
          </a:p>
          <a:p>
            <a:r>
              <a:t>theo thời gian, đưa qua một lớp Linear 768 sang 4, rồi tính cross-entropy khi train và</a:t>
            </a:r>
          </a:p>
          <a:p>
            <a:r>
              <a:t>argmax khi đánh giá.</a:t>
            </a:r>
          </a:p>
          <a:p>
            <a:endParaRPr/>
          </a:p>
          <a:p>
            <a:r>
              <a:t>Ba hộp cam ở dưới cho thấy bốn dòng cải tiến gắn vào BA vị trí khác nhau trên cùng một</a:t>
            </a:r>
          </a:p>
          <a:p>
            <a:r>
              <a:t>đường ống — metadata vào tầng đặc trưng, delta vào logit, loss vào mục tiêu.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 chi tiết dễ làm sai.</a:t>
            </a:r>
          </a:p>
          <a:p>
            <a:endParaRPr/>
          </a:p>
          <a:p>
            <a:r>
              <a:t>Một: cache waveform 16 kHz chứ không cache spectrogram. BEATs tự tính fbank 128 mel bên trong,</a:t>
            </a:r>
          </a:p>
          <a:p>
            <a:r>
              <a:t>nên cache phổ sẽ phình từ 600 MB lên 1,4 đến 2,8 GB mà chẳng được gì.</a:t>
            </a:r>
          </a:p>
          <a:p>
            <a:endParaRPr/>
          </a:p>
          <a:p>
            <a:r>
              <a:t>Hai: chu kỳ ngắn thì LẶP LẠI tín hiệu, không đệm số 0. 96,6 % chu kỳ ngắn hơn cửa sổ 5 giây,</a:t>
            </a:r>
          </a:p>
          <a:p>
            <a:r>
              <a:t>mà đệm 0 sẽ tạo ra khoảng lặng nhân tạo không hề có trong âm thanh thật.</a:t>
            </a:r>
          </a:p>
          <a:p>
            <a:endParaRPr/>
          </a:p>
          <a:p>
            <a:r>
              <a:t>Ba, và đây là cái tôi mất nhiều thời gian nhất: KHÔNG dùng float16. BEATs sinh loss NaN dưới</a:t>
            </a:r>
          </a:p>
          <a:p>
            <a:r>
              <a:t>fp16. Khi loss là NaN, argmax của logit NaN luôn trả về chỉ số 0 — tức lớp normal. Mô hình</a:t>
            </a:r>
          </a:p>
          <a:p>
            <a:r>
              <a:t>"luôn đoán normal" và cho Score đúng 50,00. Trông như đã train xong nhưng hoàn toàn vô nghĩa.</a:t>
            </a:r>
          </a:p>
          <a:p>
            <a:r>
              <a:t>Đây chính là ví dụ cụ thể cho slide về độ đo ở đầu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Notebook dùng assert để xác minh số chu kỳ và việc trùng bệnh nhân, thay vì tin tưởng.</a:t>
            </a:r>
          </a:p>
          <a:p>
            <a:r>
              <a:t>Cả ba lỗi dưới đây là đặc tính của bộ dữ liệu, không phải lỗi code.</a:t>
            </a:r>
          </a:p>
          <a:p>
            <a:endParaRPr/>
          </a:p>
          <a:p>
            <a:r>
              <a:t>Một: file zip chứa cả filename_format.txt và filename_differences.txt — không phải file</a:t>
            </a:r>
          </a:p>
          <a:p>
            <a:r>
              <a:t>chú thích, làm hàm phân tích tên file crash.</a:t>
            </a:r>
          </a:p>
          <a:p>
            <a:endParaRPr/>
          </a:p>
          <a:p>
            <a:r>
              <a:t>Hai: file phân chia chính thức KHÔNG tách hoàn toàn theo bệnh nhân. Bệnh nhân 156 và 218</a:t>
            </a:r>
          </a:p>
          <a:p>
            <a:r>
              <a:t>có bản ghi ở cả hai tập. Ban đầu tôi tưởng pipeline mình sai, hoá ra là đặc tính của benchmark.</a:t>
            </a:r>
          </a:p>
          <a:p>
            <a:endParaRPr/>
          </a:p>
          <a:p>
            <a:r>
              <a:t>Ba, và là cái nguy hiểm nhất: bản ghi 226_1b1_Pl bị ghi sai tên thiết bị trong file phân chia —</a:t>
            </a:r>
          </a:p>
          <a:p>
            <a:r>
              <a:t>file ghi Meditron còn bộ dữ liệu ghi LittC2SE. Bỏ qua nó thì mất 11 chu kỳ, train còn 4131</a:t>
            </a:r>
          </a:p>
          <a:p>
            <a:r>
              <a:t>thay vì 4142.</a:t>
            </a:r>
          </a:p>
          <a:p>
            <a:endParaRPr/>
          </a:p>
          <a:p>
            <a:r>
              <a:t>Không có bước kiểm tra này, ta đã train trên 4131 chu kỳ rồi đem so với các con số</a:t>
            </a:r>
          </a:p>
          <a:p>
            <a:r>
              <a:t>tính trên 4142 — và sẽ không bao giờ biết.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Đây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. </a:t>
            </a:r>
            <a:r>
              <a:rPr dirty="0" err="1"/>
              <a:t>Chú</a:t>
            </a:r>
            <a:r>
              <a:rPr dirty="0"/>
              <a:t> ý </a:t>
            </a:r>
            <a:r>
              <a:rPr dirty="0" err="1"/>
              <a:t>cột</a:t>
            </a:r>
            <a:r>
              <a:rPr dirty="0"/>
              <a:t> </a:t>
            </a:r>
            <a:r>
              <a:rPr dirty="0" err="1"/>
              <a:t>n_seed</a:t>
            </a:r>
            <a:r>
              <a:rPr dirty="0"/>
              <a:t>: </a:t>
            </a:r>
            <a:r>
              <a:rPr dirty="0" err="1"/>
              <a:t>dòng</a:t>
            </a:r>
            <a:r>
              <a:rPr dirty="0"/>
              <a:t> 0 </a:t>
            </a:r>
            <a:r>
              <a:rPr dirty="0" err="1"/>
              <a:t>có</a:t>
            </a:r>
            <a:r>
              <a:rPr dirty="0"/>
              <a:t> 2 seed,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dòng</a:t>
            </a:r>
            <a:r>
              <a:rPr dirty="0"/>
              <a:t> </a:t>
            </a:r>
            <a:r>
              <a:rPr dirty="0" err="1"/>
              <a:t>còn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1.</a:t>
            </a:r>
          </a:p>
          <a:p>
            <a:endParaRPr dirty="0"/>
          </a:p>
          <a:p>
            <a:r>
              <a:rPr dirty="0" err="1"/>
              <a:t>Dòng</a:t>
            </a:r>
            <a:r>
              <a:rPr dirty="0"/>
              <a:t> 0 </a:t>
            </a:r>
            <a:r>
              <a:rPr dirty="0" err="1"/>
              <a:t>đạt</a:t>
            </a:r>
            <a:r>
              <a:rPr dirty="0"/>
              <a:t> 61,69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lệch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1,45. Các </a:t>
            </a:r>
            <a:r>
              <a:rPr dirty="0" err="1"/>
              <a:t>dòng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tiến</a:t>
            </a:r>
            <a:r>
              <a:rPr dirty="0"/>
              <a:t>: </a:t>
            </a:r>
            <a:r>
              <a:rPr dirty="0" err="1"/>
              <a:t>dòng</a:t>
            </a:r>
            <a:r>
              <a:rPr dirty="0"/>
              <a:t> 1 </a:t>
            </a:r>
            <a:r>
              <a:rPr dirty="0" err="1"/>
              <a:t>hơn</a:t>
            </a:r>
            <a:r>
              <a:rPr dirty="0"/>
              <a:t> 0,96 </a:t>
            </a:r>
            <a:r>
              <a:rPr dirty="0" err="1"/>
              <a:t>điểm</a:t>
            </a:r>
            <a:r>
              <a:rPr dirty="0"/>
              <a:t>,</a:t>
            </a:r>
          </a:p>
          <a:p>
            <a:r>
              <a:rPr dirty="0" err="1"/>
              <a:t>dòng</a:t>
            </a:r>
            <a:r>
              <a:rPr dirty="0"/>
              <a:t> 2 </a:t>
            </a:r>
            <a:r>
              <a:rPr dirty="0" err="1"/>
              <a:t>hơn</a:t>
            </a:r>
            <a:r>
              <a:rPr dirty="0"/>
              <a:t> 0,07, </a:t>
            </a:r>
            <a:r>
              <a:rPr dirty="0" err="1"/>
              <a:t>dòng</a:t>
            </a:r>
            <a:r>
              <a:rPr dirty="0"/>
              <a:t> 3 </a:t>
            </a:r>
            <a:r>
              <a:rPr dirty="0" err="1"/>
              <a:t>kém</a:t>
            </a:r>
            <a:r>
              <a:rPr dirty="0"/>
              <a:t> 0,28, </a:t>
            </a:r>
            <a:r>
              <a:rPr dirty="0" err="1"/>
              <a:t>dòng</a:t>
            </a:r>
            <a:r>
              <a:rPr dirty="0"/>
              <a:t> 4 </a:t>
            </a:r>
            <a:r>
              <a:rPr dirty="0" err="1"/>
              <a:t>kém</a:t>
            </a:r>
            <a:r>
              <a:rPr dirty="0"/>
              <a:t> 0,66.</a:t>
            </a:r>
          </a:p>
          <a:p>
            <a:endParaRPr dirty="0"/>
          </a:p>
          <a:p>
            <a:r>
              <a:rPr dirty="0" err="1"/>
              <a:t>Nhìn</a:t>
            </a:r>
            <a:r>
              <a:rPr dirty="0"/>
              <a:t> qua </a:t>
            </a:r>
            <a:r>
              <a:rPr dirty="0" err="1"/>
              <a:t>thì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vẻ</a:t>
            </a:r>
            <a:r>
              <a:rPr dirty="0"/>
              <a:t> </a:t>
            </a:r>
            <a:r>
              <a:rPr dirty="0" err="1"/>
              <a:t>dòng</a:t>
            </a:r>
            <a:r>
              <a:rPr dirty="0"/>
              <a:t> 1 </a:t>
            </a:r>
            <a:r>
              <a:rPr dirty="0" err="1"/>
              <a:t>thắng</a:t>
            </a:r>
            <a:r>
              <a:rPr dirty="0"/>
              <a:t>.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đừng</a:t>
            </a:r>
            <a:r>
              <a:rPr dirty="0"/>
              <a:t> </a:t>
            </a:r>
            <a:r>
              <a:rPr dirty="0" err="1"/>
              <a:t>vội</a:t>
            </a:r>
            <a:r>
              <a:rPr dirty="0"/>
              <a:t> —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lệch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1,45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dòng</a:t>
            </a:r>
            <a:r>
              <a:rPr dirty="0"/>
              <a:t> 0 </a:t>
            </a:r>
            <a:r>
              <a:rPr dirty="0" err="1"/>
              <a:t>lớn</a:t>
            </a:r>
            <a:r>
              <a:rPr dirty="0"/>
              <a:t> </a:t>
            </a:r>
            <a:r>
              <a:rPr dirty="0" err="1"/>
              <a:t>hơn</a:t>
            </a:r>
            <a:endParaRPr dirty="0"/>
          </a:p>
          <a:p>
            <a:r>
              <a:rPr dirty="0" err="1"/>
              <a:t>tất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khoảng</a:t>
            </a:r>
            <a:r>
              <a:rPr dirty="0"/>
              <a:t>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đó</a:t>
            </a:r>
            <a:r>
              <a:rPr dirty="0"/>
              <a:t>. Slide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sẽ</a:t>
            </a:r>
            <a:r>
              <a:rPr dirty="0"/>
              <a:t> </a:t>
            </a:r>
            <a:r>
              <a:rPr dirty="0" err="1"/>
              <a:t>nói</a:t>
            </a:r>
            <a:r>
              <a:rPr dirty="0"/>
              <a:t> </a:t>
            </a:r>
            <a:r>
              <a:rPr dirty="0" err="1"/>
              <a:t>rõ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Đây là cùng dữ liệu ở dạng hình. Chấm là trung bình, thanh ngang là độ lệch chuẩn.</a:t>
            </a:r>
          </a:p>
          <a:p>
            <a:endParaRPr/>
          </a:p>
          <a:p>
            <a:r>
              <a:t>Chỉ dòng 0 có thanh sai số vì chỉ nó có nhiều hơn một seed. Và thanh đó kéo dài từ khoảng</a:t>
            </a:r>
          </a:p>
          <a:p>
            <a:r>
              <a:t>60,2 đến 63,1 — phủ trùm điểm số của cả bốn dòng còn lại.</a:t>
            </a:r>
          </a:p>
          <a:p>
            <a:endParaRPr/>
          </a:p>
          <a:p>
            <a:r>
              <a:t>Nhìn hình là thấy ngay: không dòng nào tách được ra khỏi nhiễu.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Đây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,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nó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tiến</a:t>
            </a:r>
            <a:r>
              <a:rPr dirty="0"/>
              <a:t> </a:t>
            </a:r>
            <a:r>
              <a:rPr dirty="0" err="1"/>
              <a:t>thất</a:t>
            </a:r>
            <a:r>
              <a:rPr dirty="0"/>
              <a:t> </a:t>
            </a:r>
            <a:r>
              <a:rPr dirty="0" err="1"/>
              <a:t>bại</a:t>
            </a:r>
            <a:r>
              <a:rPr dirty="0"/>
              <a:t>, </a:t>
            </a:r>
            <a:r>
              <a:rPr dirty="0" err="1"/>
              <a:t>cũng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tiến</a:t>
            </a:r>
            <a:endParaRPr dirty="0"/>
          </a:p>
          <a:p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. </a:t>
            </a:r>
            <a:r>
              <a:rPr dirty="0" err="1"/>
              <a:t>Thí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</a:t>
            </a:r>
            <a:r>
              <a:rPr dirty="0" err="1"/>
              <a:t>sức</a:t>
            </a:r>
            <a:r>
              <a:rPr dirty="0"/>
              <a:t>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lời</a:t>
            </a:r>
            <a:r>
              <a:rPr dirty="0"/>
              <a:t> </a:t>
            </a: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hỏi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</a:t>
            </a:r>
            <a:r>
              <a:rPr dirty="0" err="1"/>
              <a:t>ngay</a:t>
            </a:r>
            <a:r>
              <a:rPr dirty="0"/>
              <a:t> ở </a:t>
            </a:r>
            <a:r>
              <a:rPr dirty="0" err="1"/>
              <a:t>dòng</a:t>
            </a:r>
            <a:r>
              <a:rPr dirty="0"/>
              <a:t> 0. Hai seed,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,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,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siêu</a:t>
            </a:r>
            <a:r>
              <a:rPr dirty="0"/>
              <a:t> </a:t>
            </a:r>
            <a:r>
              <a:rPr dirty="0" err="1"/>
              <a:t>tham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.</a:t>
            </a:r>
          </a:p>
          <a:p>
            <a:r>
              <a:rPr dirty="0"/>
              <a:t>Seed 1 </a:t>
            </a:r>
            <a:r>
              <a:rPr dirty="0" err="1"/>
              <a:t>cho</a:t>
            </a:r>
            <a:r>
              <a:rPr dirty="0"/>
              <a:t> Score 62,71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Sp</a:t>
            </a:r>
            <a:r>
              <a:rPr dirty="0"/>
              <a:t> 73,08. Seed 2 </a:t>
            </a:r>
            <a:r>
              <a:rPr dirty="0" err="1"/>
              <a:t>cho</a:t>
            </a:r>
            <a:r>
              <a:rPr dirty="0"/>
              <a:t> 60,66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Sp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66,18. </a:t>
            </a:r>
            <a:r>
              <a:rPr dirty="0" err="1"/>
              <a:t>Chênh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 2,05 </a:t>
            </a:r>
            <a:r>
              <a:rPr dirty="0" err="1"/>
              <a:t>điểm</a:t>
            </a:r>
            <a:endParaRPr dirty="0"/>
          </a:p>
          <a:p>
            <a:r>
              <a:rPr dirty="0"/>
              <a:t>Score,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gần</a:t>
            </a:r>
            <a:r>
              <a:rPr dirty="0"/>
              <a:t> 7 </a:t>
            </a:r>
            <a:r>
              <a:rPr dirty="0" err="1"/>
              <a:t>điểm</a:t>
            </a:r>
            <a:r>
              <a:rPr dirty="0"/>
              <a:t> Specificity.</a:t>
            </a:r>
          </a:p>
          <a:p>
            <a:endParaRPr dirty="0"/>
          </a:p>
          <a:p>
            <a:r>
              <a:rPr dirty="0"/>
              <a:t>Trong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đó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lớn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phương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0,96 </a:t>
            </a:r>
            <a:r>
              <a:rPr dirty="0" err="1"/>
              <a:t>điểm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Nhiễu</a:t>
            </a:r>
            <a:r>
              <a:rPr dirty="0"/>
              <a:t> </a:t>
            </a:r>
            <a:r>
              <a:rPr dirty="0" err="1"/>
              <a:t>gấp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lần</a:t>
            </a:r>
            <a:r>
              <a:rPr dirty="0"/>
              <a:t> </a:t>
            </a:r>
            <a:r>
              <a:rPr dirty="0" err="1"/>
              <a:t>tín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. </a:t>
            </a:r>
            <a:r>
              <a:rPr dirty="0" err="1"/>
              <a:t>Mọi</a:t>
            </a:r>
            <a:r>
              <a:rPr dirty="0"/>
              <a:t> so </a:t>
            </a:r>
            <a:r>
              <a:rPr dirty="0" err="1"/>
              <a:t>sánh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vì</a:t>
            </a:r>
            <a:r>
              <a:rPr dirty="0"/>
              <a:t> </a:t>
            </a:r>
            <a:r>
              <a:rPr dirty="0" err="1"/>
              <a:t>thế</a:t>
            </a:r>
            <a:r>
              <a:rPr dirty="0"/>
              <a:t> </a:t>
            </a:r>
            <a:r>
              <a:rPr dirty="0" err="1"/>
              <a:t>đều</a:t>
            </a:r>
            <a:r>
              <a:rPr dirty="0"/>
              <a:t> </a:t>
            </a:r>
            <a:r>
              <a:rPr dirty="0" err="1"/>
              <a:t>vô</a:t>
            </a:r>
            <a:r>
              <a:rPr dirty="0"/>
              <a:t> </a:t>
            </a:r>
            <a:r>
              <a:rPr dirty="0" err="1"/>
              <a:t>nghĩa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</a:t>
            </a:r>
            <a:r>
              <a:rPr dirty="0" err="1"/>
              <a:t>khi</a:t>
            </a:r>
            <a:endParaRPr dirty="0"/>
          </a:p>
          <a:p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Đây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hoạ</a:t>
            </a:r>
            <a:r>
              <a:rPr dirty="0"/>
              <a:t> </a:t>
            </a:r>
            <a:r>
              <a:rPr dirty="0" err="1"/>
              <a:t>sống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Ở </a:t>
            </a:r>
            <a:r>
              <a:rPr dirty="0" err="1"/>
              <a:t>lần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, </a:t>
            </a:r>
            <a:r>
              <a:rPr dirty="0" err="1"/>
              <a:t>dòng</a:t>
            </a:r>
            <a:r>
              <a:rPr dirty="0"/>
              <a:t> 0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1 seed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đạt</a:t>
            </a:r>
            <a:r>
              <a:rPr dirty="0"/>
              <a:t> 62,71. Khi </a:t>
            </a:r>
            <a:r>
              <a:rPr dirty="0" err="1"/>
              <a:t>đó</a:t>
            </a:r>
            <a:r>
              <a:rPr dirty="0"/>
              <a:t> MỌI </a:t>
            </a:r>
            <a:r>
              <a:rPr dirty="0" err="1"/>
              <a:t>dòng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tiến</a:t>
            </a:r>
            <a:r>
              <a:rPr dirty="0"/>
              <a:t> </a:t>
            </a:r>
            <a:r>
              <a:rPr dirty="0" err="1"/>
              <a:t>đều</a:t>
            </a:r>
            <a:r>
              <a:rPr dirty="0"/>
              <a:t> </a:t>
            </a:r>
            <a:r>
              <a:rPr dirty="0" err="1"/>
              <a:t>trông</a:t>
            </a:r>
            <a:r>
              <a:rPr dirty="0"/>
              <a:t> </a:t>
            </a:r>
            <a:r>
              <a:rPr dirty="0" err="1"/>
              <a:t>như</a:t>
            </a:r>
            <a:endParaRPr dirty="0"/>
          </a:p>
          <a:p>
            <a:r>
              <a:rPr dirty="0" err="1"/>
              <a:t>tệ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— </a:t>
            </a:r>
            <a:r>
              <a:rPr dirty="0" err="1"/>
              <a:t>dòng</a:t>
            </a:r>
            <a:r>
              <a:rPr dirty="0"/>
              <a:t> 4 </a:t>
            </a:r>
            <a:r>
              <a:rPr dirty="0" err="1"/>
              <a:t>kém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1,69 </a:t>
            </a:r>
            <a:r>
              <a:rPr dirty="0" err="1"/>
              <a:t>điểm</a:t>
            </a:r>
            <a:r>
              <a:rPr dirty="0"/>
              <a:t>,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tôi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viết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giả</a:t>
            </a:r>
            <a:r>
              <a:rPr dirty="0"/>
              <a:t> </a:t>
            </a:r>
            <a:r>
              <a:rPr dirty="0" err="1"/>
              <a:t>thuyết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bác</a:t>
            </a:r>
            <a:r>
              <a:rPr dirty="0"/>
              <a:t> </a:t>
            </a:r>
            <a:r>
              <a:rPr dirty="0" err="1"/>
              <a:t>bỏ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đúng</a:t>
            </a:r>
            <a:r>
              <a:rPr dirty="0"/>
              <a:t> MỘT seed </a:t>
            </a:r>
            <a:r>
              <a:rPr dirty="0" err="1"/>
              <a:t>nữa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dòng</a:t>
            </a:r>
            <a:r>
              <a:rPr dirty="0"/>
              <a:t> 0. Trung </a:t>
            </a:r>
            <a:r>
              <a:rPr dirty="0" err="1"/>
              <a:t>bình</a:t>
            </a:r>
            <a:r>
              <a:rPr dirty="0"/>
              <a:t> </a:t>
            </a:r>
            <a:r>
              <a:rPr dirty="0" err="1"/>
              <a:t>tụt</a:t>
            </a:r>
            <a:r>
              <a:rPr dirty="0"/>
              <a:t> </a:t>
            </a:r>
            <a:r>
              <a:rPr dirty="0" err="1"/>
              <a:t>xuống</a:t>
            </a:r>
            <a:r>
              <a:rPr dirty="0"/>
              <a:t> 61,69.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dòng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 </a:t>
            </a:r>
            <a:r>
              <a:rPr dirty="0" err="1"/>
              <a:t>chuyển</a:t>
            </a:r>
            <a:endParaRPr dirty="0"/>
          </a:p>
          <a:p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dương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.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sửa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dòng</a:t>
            </a:r>
            <a:r>
              <a:rPr dirty="0"/>
              <a:t> code </a:t>
            </a:r>
            <a:r>
              <a:rPr dirty="0" err="1"/>
              <a:t>nào</a:t>
            </a:r>
            <a:r>
              <a:rPr dirty="0"/>
              <a:t>.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mẫu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kê</a:t>
            </a:r>
            <a:endParaRPr dirty="0"/>
          </a:p>
          <a:p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: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nhiễu</a:t>
            </a:r>
            <a:r>
              <a:rPr dirty="0"/>
              <a:t> </a:t>
            </a:r>
            <a:r>
              <a:rPr dirty="0" err="1"/>
              <a:t>lớn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, ta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lời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thích</a:t>
            </a:r>
            <a:r>
              <a:rPr dirty="0"/>
              <a:t> </a:t>
            </a:r>
            <a:r>
              <a:rPr dirty="0" err="1"/>
              <a:t>nghe</a:t>
            </a:r>
            <a:r>
              <a:rPr dirty="0"/>
              <a:t> </a:t>
            </a:r>
            <a:r>
              <a:rPr dirty="0" err="1"/>
              <a:t>rất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lý</a:t>
            </a:r>
            <a:endParaRPr dirty="0"/>
          </a:p>
          <a:p>
            <a:r>
              <a:rPr dirty="0" err="1"/>
              <a:t>cho</a:t>
            </a:r>
            <a:r>
              <a:rPr dirty="0"/>
              <a:t> BẤT KỲ </a:t>
            </a:r>
            <a:r>
              <a:rPr dirty="0" err="1"/>
              <a:t>chiều</a:t>
            </a:r>
            <a:r>
              <a:rPr dirty="0"/>
              <a:t> </a:t>
            </a:r>
            <a:r>
              <a:rPr dirty="0" err="1"/>
              <a:t>nào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.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seed TRƯỚC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diễn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hàm</a:t>
            </a:r>
            <a:r>
              <a:rPr dirty="0"/>
              <a:t> loss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sự</a:t>
            </a:r>
            <a:r>
              <a:rPr dirty="0"/>
              <a:t> in </a:t>
            </a:r>
            <a:r>
              <a:rPr dirty="0" err="1"/>
              <a:t>ra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1,006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ba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0,998. </a:t>
            </a:r>
            <a:r>
              <a:rPr dirty="0" err="1"/>
              <a:t>Gần</a:t>
            </a:r>
            <a:r>
              <a:rPr dirty="0"/>
              <a:t> </a:t>
            </a:r>
            <a:r>
              <a:rPr dirty="0" err="1"/>
              <a:t>như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1 </a:t>
            </a:r>
            <a:r>
              <a:rPr dirty="0" err="1"/>
              <a:t>hết</a:t>
            </a:r>
            <a:r>
              <a:rPr dirty="0"/>
              <a:t> — </a:t>
            </a:r>
            <a:r>
              <a:rPr dirty="0" err="1"/>
              <a:t>tức</a:t>
            </a:r>
            <a:r>
              <a:rPr dirty="0"/>
              <a:t> </a:t>
            </a:r>
            <a:r>
              <a:rPr dirty="0" err="1"/>
              <a:t>là</a:t>
            </a:r>
            <a:endParaRPr dirty="0"/>
          </a:p>
          <a:p>
            <a:r>
              <a:rPr dirty="0" err="1"/>
              <a:t>gần</a:t>
            </a:r>
            <a:r>
              <a:rPr dirty="0"/>
              <a:t> </a:t>
            </a:r>
            <a:r>
              <a:rPr dirty="0" err="1"/>
              <a:t>trùng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cross-entropy </a:t>
            </a:r>
            <a:r>
              <a:rPr dirty="0" err="1"/>
              <a:t>thường</a:t>
            </a:r>
            <a:r>
              <a:rPr dirty="0"/>
              <a:t>.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lạ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nó</a:t>
            </a:r>
            <a:r>
              <a:rPr dirty="0"/>
              <a:t> </a:t>
            </a:r>
            <a:r>
              <a:rPr dirty="0" err="1"/>
              <a:t>chẳng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Vì</a:t>
            </a:r>
            <a:r>
              <a:rPr dirty="0"/>
              <a:t> </a:t>
            </a:r>
            <a:r>
              <a:rPr dirty="0" err="1"/>
              <a:t>sao</a:t>
            </a:r>
            <a:r>
              <a:rPr dirty="0"/>
              <a:t>? </a:t>
            </a:r>
            <a:r>
              <a:rPr dirty="0" err="1"/>
              <a:t>Nhìn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: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52,8 % normal, </a:t>
            </a:r>
            <a:r>
              <a:rPr dirty="0" err="1"/>
              <a:t>nghe</a:t>
            </a:r>
            <a:r>
              <a:rPr dirty="0"/>
              <a:t> </a:t>
            </a:r>
            <a:r>
              <a:rPr dirty="0" err="1"/>
              <a:t>thì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vẻ</a:t>
            </a:r>
            <a:r>
              <a:rPr dirty="0"/>
              <a:t> </a:t>
            </a:r>
            <a:r>
              <a:rPr dirty="0" err="1"/>
              <a:t>mất</a:t>
            </a:r>
            <a:r>
              <a:rPr dirty="0"/>
              <a:t> </a:t>
            </a:r>
            <a:r>
              <a:rPr dirty="0" err="1"/>
              <a:t>cân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. </a:t>
            </a:r>
            <a:r>
              <a:rPr dirty="0" err="1"/>
              <a:t>Nhưng</a:t>
            </a:r>
            <a:endParaRPr dirty="0"/>
          </a:p>
          <a:p>
            <a:r>
              <a:rPr dirty="0" err="1"/>
              <a:t>riêng</a:t>
            </a:r>
            <a:r>
              <a:rPr dirty="0"/>
              <a:t> TẬP TRAIN </a:t>
            </a:r>
            <a:r>
              <a:rPr dirty="0" err="1"/>
              <a:t>thì</a:t>
            </a:r>
            <a:r>
              <a:rPr dirty="0"/>
              <a:t> </a:t>
            </a:r>
            <a:r>
              <a:rPr dirty="0" err="1"/>
              <a:t>tỉ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49,8 % — </a:t>
            </a:r>
            <a:r>
              <a:rPr dirty="0" err="1"/>
              <a:t>cân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gần</a:t>
            </a:r>
            <a:r>
              <a:rPr dirty="0"/>
              <a:t> </a:t>
            </a:r>
            <a:r>
              <a:rPr dirty="0" err="1"/>
              <a:t>như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hảo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Đây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chỗ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tôi</a:t>
            </a:r>
            <a:r>
              <a:rPr dirty="0"/>
              <a:t> </a:t>
            </a:r>
            <a:r>
              <a:rPr dirty="0" err="1"/>
              <a:t>sai</a:t>
            </a:r>
            <a:r>
              <a:rPr dirty="0"/>
              <a:t>. </a:t>
            </a:r>
            <a:r>
              <a:rPr dirty="0" err="1"/>
              <a:t>Hướng</a:t>
            </a:r>
            <a:r>
              <a:rPr dirty="0"/>
              <a:t> B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giả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mất</a:t>
            </a:r>
            <a:r>
              <a:rPr dirty="0"/>
              <a:t> </a:t>
            </a:r>
            <a:r>
              <a:rPr dirty="0" err="1"/>
              <a:t>cân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giữa</a:t>
            </a:r>
            <a:endParaRPr dirty="0"/>
          </a:p>
          <a:p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.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. </a:t>
            </a:r>
            <a:r>
              <a:rPr dirty="0" err="1"/>
              <a:t>Mất</a:t>
            </a:r>
            <a:r>
              <a:rPr dirty="0"/>
              <a:t> </a:t>
            </a:r>
            <a:r>
              <a:rPr dirty="0" err="1"/>
              <a:t>cân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thật</a:t>
            </a:r>
            <a:r>
              <a:rPr dirty="0"/>
              <a:t> </a:t>
            </a:r>
            <a:r>
              <a:rPr dirty="0" err="1"/>
              <a:t>nằm</a:t>
            </a:r>
            <a:r>
              <a:rPr dirty="0"/>
              <a:t> BÊN TRONG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bất</a:t>
            </a:r>
            <a:r>
              <a:rPr dirty="0"/>
              <a:t> </a:t>
            </a:r>
            <a:r>
              <a:rPr dirty="0" err="1"/>
              <a:t>thường</a:t>
            </a:r>
            <a:r>
              <a:rPr dirty="0"/>
              <a:t> — crackle </a:t>
            </a:r>
            <a:r>
              <a:rPr dirty="0" err="1"/>
              <a:t>có</a:t>
            </a:r>
            <a:endParaRPr dirty="0"/>
          </a:p>
          <a:p>
            <a:r>
              <a:rPr dirty="0"/>
              <a:t>1.864 chu </a:t>
            </a:r>
            <a:r>
              <a:rPr dirty="0" err="1"/>
              <a:t>kỳ</a:t>
            </a:r>
            <a:r>
              <a:rPr dirty="0"/>
              <a:t> </a:t>
            </a:r>
            <a:r>
              <a:rPr dirty="0" err="1"/>
              <a:t>còn</a:t>
            </a:r>
            <a:r>
              <a:rPr dirty="0"/>
              <a:t> both </a:t>
            </a:r>
            <a:r>
              <a:rPr dirty="0" err="1"/>
              <a:t>chỉ</a:t>
            </a:r>
            <a:r>
              <a:rPr dirty="0"/>
              <a:t> 506 —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đó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đúng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thứ</a:t>
            </a:r>
            <a:r>
              <a:rPr dirty="0"/>
              <a:t> loss </a:t>
            </a:r>
            <a:r>
              <a:rPr dirty="0" err="1"/>
              <a:t>cân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cố</a:t>
            </a:r>
            <a:r>
              <a:rPr dirty="0"/>
              <a:t> ý </a:t>
            </a:r>
            <a:r>
              <a:rPr dirty="0" err="1"/>
              <a:t>không</a:t>
            </a:r>
            <a:endParaRPr dirty="0"/>
          </a:p>
          <a:p>
            <a:r>
              <a:rPr dirty="0" err="1"/>
              <a:t>đụng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: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bố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đúng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train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hàm</a:t>
            </a:r>
            <a:r>
              <a:rPr dirty="0"/>
              <a:t> loss </a:t>
            </a:r>
            <a:r>
              <a:rPr dirty="0" err="1"/>
              <a:t>quanh</a:t>
            </a:r>
            <a:r>
              <a:rPr dirty="0"/>
              <a:t> </a:t>
            </a:r>
            <a:r>
              <a:rPr dirty="0" err="1"/>
              <a:t>nó</a:t>
            </a:r>
            <a:r>
              <a:rPr dirty="0"/>
              <a:t>,</a:t>
            </a:r>
          </a:p>
          <a:p>
            <a:r>
              <a:rPr dirty="0" err="1"/>
              <a:t>đừng</a:t>
            </a:r>
            <a:r>
              <a:rPr dirty="0"/>
              <a:t> </a:t>
            </a:r>
            <a:r>
              <a:rPr dirty="0" err="1"/>
              <a:t>suy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kê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Train có 49,8 % normal, test có 57,3 %. Chênh gần 8 điểm phần trăm.</a:t>
            </a:r>
          </a:p>
          <a:p>
            <a:endParaRPr/>
          </a:p>
          <a:p>
            <a:r>
              <a:t>Hệ quả: mô hình học trên train sẽ dưới-dự-đoán lớp normal khi gặp test.</a:t>
            </a:r>
          </a:p>
          <a:p>
            <a:endParaRPr/>
          </a:p>
          <a:p>
            <a:r>
              <a:t>Nhìn kết quả hiệu chỉnh. Delta tối ưu thật sự — cột oracle — là DƯƠNG, cộng 0,55, tức là</a:t>
            </a:r>
          </a:p>
          <a:p>
            <a:r>
              <a:t>phải đẩy mô hình đoán normal NHIỀU HƠN. Ngược hoàn toàn với kỳ vọng ban đầu của hướng B.</a:t>
            </a:r>
          </a:p>
          <a:p>
            <a:endParaRPr/>
          </a:p>
          <a:p>
            <a:r>
              <a:t>Nhưng tập val của ta được cắt ra từ train, nên nó mang phân bố của train. Nó không nhìn thấy</a:t>
            </a:r>
          </a:p>
          <a:p>
            <a:r>
              <a:t>độ lệch đó và chỉ ta đi sai hướng: delta âm 0,20, làm Score tụt.</a:t>
            </a:r>
          </a:p>
          <a:p>
            <a:endParaRPr/>
          </a:p>
          <a:p>
            <a:r>
              <a:t>Điểm sáng: oracle cho thấy cộng 1,17 vẫn đang nằm sẵn trên bàn nếu hiệu chỉnh đúng cách.</a:t>
            </a:r>
          </a:p>
          <a:p>
            <a:r>
              <a:t>Hướng sửa là dùng độ lệch prior train sang test đã biết, thay vì dò trên 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Tách kết quả theo từng loại ống nghe.</a:t>
            </a:r>
          </a:p>
          <a:p>
            <a:endParaRPr/>
          </a:p>
          <a:p>
            <a:r>
              <a:t>Meditron đạt 63,53. AKGC417L 61,61. Còn Litt3200 chỉ 50,81 — gần như vô dụng, chỉ nhỉnh hơn</a:t>
            </a:r>
          </a:p>
          <a:p>
            <a:r>
              <a:t>mô hình luôn đoán normal có 0,81 điểm.</a:t>
            </a:r>
          </a:p>
          <a:p>
            <a:endParaRPr/>
          </a:p>
          <a:p>
            <a:r>
              <a:t>Khoảng cách 12,7 điểm giữa thiết bị tốt nhất và tệ nhất LỚN HƠN mọi hiệu ứng đang được so</a:t>
            </a:r>
          </a:p>
          <a:p>
            <a:r>
              <a:t>sánh trong bảng ablation, vốn chỉ dưới 1 điểm.</a:t>
            </a:r>
          </a:p>
          <a:p>
            <a:endParaRPr/>
          </a:p>
          <a:p>
            <a:r>
              <a:t>Và chú ý hai thiết bị nằm ở hai điểm vận hành trái ngược: Meditron thiên về Specificity với</a:t>
            </a:r>
          </a:p>
          <a:p>
            <a:r>
              <a:t>Sp gần 90, còn AKGC417L thiên về Sensitivity.</a:t>
            </a:r>
          </a:p>
          <a:p>
            <a:endParaRPr/>
          </a:p>
          <a:p>
            <a:r>
              <a:t>Nguyên nhân đã thấy ở bảng EDA đầu bài: mỗi thiết bị nhìn thấy một phân bố lớp rất khác nhau.</a:t>
            </a:r>
          </a:p>
          <a:p>
            <a:r>
              <a:t>Nên thiết bị mang theo thông tin về nhóm bệnh nhân — và đó là cách giải thích khả dĩ nhất cho</a:t>
            </a:r>
          </a:p>
          <a:p>
            <a:r>
              <a:t>việc dòng 3 và dòng 4 không cải thiện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Bốn hạn chế, và cái đầu tiên là quan trọng nhất.</a:t>
            </a:r>
          </a:p>
          <a:p>
            <a:endParaRPr/>
          </a:p>
          <a:p>
            <a:r>
              <a:t>Số seed quá ít. Đây không còn là một hạn chế bên lề mà chính là kết quả của đồ án:</a:t>
            </a:r>
          </a:p>
          <a:p>
            <a:r>
              <a:t>nhiễu đo được lớn hơn mọi hiệu ứng.</a:t>
            </a:r>
          </a:p>
          <a:p>
            <a:endParaRPr/>
          </a:p>
          <a:p>
            <a:r>
              <a:t>Sigma bằng 1,45 lại được ước lượng từ đúng hai mẫu, nên bản thân con số đó cũng rất</a:t>
            </a:r>
          </a:p>
          <a:p>
            <a:r>
              <a:t>không chắc chắn. Cần ít nhất 5 seed mới ước lượng phương sai đáng tin.</a:t>
            </a:r>
          </a:p>
          <a:p>
            <a:endParaRPr/>
          </a:p>
          <a:p>
            <a:r>
              <a:t>Ta chọn epoch tốt nhất dựa trên tập test — đây là quy ước của cả lĩnh vực nên phải làm theo</a:t>
            </a:r>
          </a:p>
          <a:p>
            <a:r>
              <a:t>để so sánh được, nhưng chọn cực trị trên test chính là thứ khuếch đại nhiễu. Rất có thể</a:t>
            </a:r>
          </a:p>
          <a:p>
            <a:r>
              <a:t>đây là nguồn gây phương sai lớn.</a:t>
            </a:r>
          </a:p>
          <a:p>
            <a:endParaRPr/>
          </a:p>
          <a:p>
            <a:r>
              <a:t>Và file phân chia chính thức có rò rỉ nhẹ, 2 trên 126 bệnh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 kết luận đầu không phụ thuộc vào vấn đề seed, vì chúng đọc thẳng từ dữ liệu chứ không</a:t>
            </a:r>
          </a:p>
          <a:p>
            <a:r>
              <a:t>từ việc so sánh giữa các lần chạy. Nên chúng vẫn đứng vững.</a:t>
            </a:r>
          </a:p>
          <a:p>
            <a:endParaRPr/>
          </a:p>
          <a:p>
            <a:r>
              <a:t>Một: tập train ICBHI đã cân bằng hai nhóm, nên một hàm loss khớp hoàn hảo với công thức</a:t>
            </a:r>
          </a:p>
          <a:p>
            <a:r>
              <a:t>của độ đo lại hoá ra vô nghĩa.</a:t>
            </a:r>
          </a:p>
          <a:p>
            <a:endParaRPr/>
          </a:p>
          <a:p>
            <a:r>
              <a:t>Hai: train và test lệch phân bố lớp, khiến mọi hiệu chỉnh dựa trên val cắt từ train đều</a:t>
            </a:r>
          </a:p>
          <a:p>
            <a:r>
              <a:t>đi sai hướng.</a:t>
            </a:r>
          </a:p>
          <a:p>
            <a:endParaRPr/>
          </a:p>
          <a:p>
            <a:r>
              <a:t>Ba: hiệu năng phụ thuộc thiết bị tới 12,7 điểm, nhấn chìm mọi khác biệt giữa các phương pháp.</a:t>
            </a:r>
          </a:p>
          <a:p>
            <a:endParaRPr/>
          </a:p>
          <a:p>
            <a:r>
              <a:t>Và kết luận thứ tư, về phương pháp luận, rút ra từ chính sự đảo chiều của bảng kết quả:</a:t>
            </a:r>
          </a:p>
          <a:p>
            <a:r>
              <a:t>trên benchmark này, phương sai giữa các seed lớn hơn khoảng cách giữa các phương pháp đang</a:t>
            </a:r>
          </a:p>
          <a:p>
            <a:r>
              <a:t>cạnh tranh nhau. Nhìn lại bảng khảo sát ở đầu bài, phần lớn khoảng cách giữa các phương pháp</a:t>
            </a:r>
          </a:p>
          <a:p>
            <a:r>
              <a:t>SOTA đều dưới 1 điểm — tức là dưới ngưỡng nhiễu.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Xếp theo tỉ lệ kỳ vọng thu được trên công sức, dựa trên chính số liệu đã có.</a:t>
            </a:r>
          </a:p>
          <a:p>
            <a:endParaRPr/>
          </a:p>
          <a:p>
            <a:r>
              <a:t>Việc số một chặn tất cả những việc còn lại: chạy đủ 5 seed cho dòng 0 và dòng 4. Không thêm</a:t>
            </a:r>
          </a:p>
          <a:p>
            <a:r>
              <a:t>ý tưởng mới. Cho đến khi có, mọi so sánh trong bảng đều vô nghĩa.</a:t>
            </a:r>
          </a:p>
          <a:p>
            <a:endParaRPr/>
          </a:p>
          <a:p>
            <a:r>
              <a:t>Việc số hai: xem lại cách chọn mô hình. Nếu chọn epoch theo test là nguồn phương sai chính,</a:t>
            </a:r>
          </a:p>
          <a:p>
            <a:r>
              <a:t>dùng trung bình N epoch cuối sẽ ổn định hơn nhiều, dù con số tuyệt đối thấp hơn.</a:t>
            </a:r>
          </a:p>
          <a:p>
            <a:endParaRPr/>
          </a:p>
          <a:p>
            <a:r>
              <a:t>Ba: hiệu chỉnh theo độ lệch prior train sang test. Oracle đã chỉ ra 1,17 điểm đang nằm sẵn</a:t>
            </a:r>
          </a:p>
          <a:p>
            <a:r>
              <a:t>trên bàn, và không cần train lại.</a:t>
            </a:r>
          </a:p>
          <a:p>
            <a:endParaRPr/>
          </a:p>
          <a:p>
            <a:r>
              <a:t>Bốn: tấn công vào mất cân bằng bên trong nhóm bất thường, chỗ mất cân bằng thật.</a:t>
            </a:r>
          </a:p>
          <a:p>
            <a:endParaRPr/>
          </a:p>
          <a:p>
            <a:r>
              <a:t>Năm: thích ứng theo thiết bị — khe hở 12,7 điểm là lớn nhất mà số liệu chỉ 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Cảm ơn mọi người. Toàn bộ notebook, khảo sát baseline và phân tích hướng cải tiến</a:t>
            </a:r>
          </a:p>
          <a:p>
            <a:r>
              <a:t>đều nằm trong repo.</a:t>
            </a:r>
          </a:p>
          <a:p>
            <a:endParaRPr/>
          </a:p>
          <a:p>
            <a:r>
              <a:t>Sẵn sàng nhận câu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10874959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Segoe UI"/>
              </a:rPr>
              <a:t>Phân loại âm thanh hô hấp ICBHI 2017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429000"/>
            <a:ext cx="14630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3794760"/>
            <a:ext cx="10874959" cy="1164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dirty="0">
                <a:solidFill>
                  <a:srgbClr val="52514E"/>
                </a:solidFill>
                <a:latin typeface="Segoe UI"/>
              </a:rPr>
              <a:t>Benchmark </a:t>
            </a:r>
            <a:r>
              <a:rPr sz="1900" b="0" dirty="0" err="1">
                <a:solidFill>
                  <a:srgbClr val="52514E"/>
                </a:solidFill>
                <a:latin typeface="Segoe UI"/>
              </a:rPr>
              <a:t>các</a:t>
            </a:r>
            <a:r>
              <a:rPr sz="19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52514E"/>
                </a:solidFill>
                <a:latin typeface="Segoe UI"/>
              </a:rPr>
              <a:t>mô</a:t>
            </a:r>
            <a:r>
              <a:rPr sz="19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52514E"/>
                </a:solidFill>
                <a:latin typeface="Segoe UI"/>
              </a:rPr>
              <a:t>hình</a:t>
            </a:r>
            <a:r>
              <a:rPr sz="19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52514E"/>
                </a:solidFill>
                <a:latin typeface="Segoe UI"/>
              </a:rPr>
              <a:t>cơ</a:t>
            </a:r>
            <a:r>
              <a:rPr sz="19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52514E"/>
                </a:solidFill>
                <a:latin typeface="Segoe UI"/>
              </a:rPr>
              <a:t>sở</a:t>
            </a:r>
            <a:r>
              <a:rPr sz="19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52514E"/>
                </a:solidFill>
                <a:latin typeface="Segoe UI"/>
              </a:rPr>
              <a:t>và</a:t>
            </a:r>
            <a:r>
              <a:rPr sz="19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52514E"/>
                </a:solidFill>
                <a:latin typeface="Segoe UI"/>
              </a:rPr>
              <a:t>thử</a:t>
            </a:r>
            <a:r>
              <a:rPr sz="19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52514E"/>
                </a:solidFill>
                <a:latin typeface="Segoe UI"/>
              </a:rPr>
              <a:t>nghiệm</a:t>
            </a:r>
            <a:r>
              <a:rPr sz="19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52514E"/>
                </a:solidFill>
                <a:latin typeface="Segoe UI"/>
              </a:rPr>
              <a:t>cải</a:t>
            </a:r>
            <a:r>
              <a:rPr sz="19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900" b="0" dirty="0" err="1">
                <a:solidFill>
                  <a:srgbClr val="52514E"/>
                </a:solidFill>
                <a:latin typeface="Segoe UI"/>
              </a:rPr>
              <a:t>tiến</a:t>
            </a:r>
            <a:endParaRPr sz="1900" b="0" dirty="0">
              <a:solidFill>
                <a:srgbClr val="52514E"/>
              </a:solidFill>
              <a:latin typeface="Segoe UI"/>
            </a:endParaRPr>
          </a:p>
          <a:p>
            <a:pPr>
              <a:spcBef>
                <a:spcPts val="1600"/>
              </a:spcBef>
            </a:pPr>
            <a:r>
              <a:rPr sz="1500" b="0" dirty="0" err="1">
                <a:solidFill>
                  <a:srgbClr val="8A8984"/>
                </a:solidFill>
                <a:latin typeface="Segoe UI"/>
              </a:rPr>
              <a:t>Đồ</a:t>
            </a:r>
            <a:r>
              <a:rPr sz="1500" b="0" dirty="0">
                <a:solidFill>
                  <a:srgbClr val="8A8984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8A8984"/>
                </a:solidFill>
                <a:latin typeface="Segoe UI"/>
              </a:rPr>
              <a:t>án</a:t>
            </a:r>
            <a:r>
              <a:rPr sz="1500" b="0" dirty="0">
                <a:solidFill>
                  <a:srgbClr val="8A8984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8A8984"/>
                </a:solidFill>
                <a:latin typeface="Segoe UI"/>
              </a:rPr>
              <a:t>cuối</a:t>
            </a:r>
            <a:r>
              <a:rPr sz="1500" b="0" dirty="0">
                <a:solidFill>
                  <a:srgbClr val="8A8984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8A8984"/>
                </a:solidFill>
                <a:latin typeface="Segoe UI"/>
              </a:rPr>
              <a:t>kỳ</a:t>
            </a:r>
            <a:r>
              <a:rPr sz="1500" b="0" dirty="0">
                <a:solidFill>
                  <a:srgbClr val="8A8984"/>
                </a:solidFill>
                <a:latin typeface="Segoe UI"/>
              </a:rPr>
              <a:t> — Deep Learning</a:t>
            </a:r>
            <a:endParaRPr lang="en-US" sz="1500" b="0" dirty="0">
              <a:solidFill>
                <a:srgbClr val="8A8984"/>
              </a:solidFill>
              <a:latin typeface="Segoe UI"/>
            </a:endParaRPr>
          </a:p>
          <a:p>
            <a:pPr>
              <a:spcBef>
                <a:spcPts val="1600"/>
              </a:spcBef>
            </a:pPr>
            <a:r>
              <a:rPr lang="en-US" sz="1500" dirty="0">
                <a:solidFill>
                  <a:srgbClr val="8A8984"/>
                </a:solidFill>
                <a:latin typeface="Segoe UI"/>
              </a:rPr>
              <a:t>Học </a:t>
            </a:r>
            <a:r>
              <a:rPr lang="en-US" sz="1500" dirty="0" err="1">
                <a:solidFill>
                  <a:srgbClr val="8A8984"/>
                </a:solidFill>
                <a:latin typeface="Segoe UI"/>
              </a:rPr>
              <a:t>viên</a:t>
            </a:r>
            <a:r>
              <a:rPr lang="en-US" sz="1500" dirty="0">
                <a:solidFill>
                  <a:srgbClr val="8A8984"/>
                </a:solidFill>
                <a:latin typeface="Segoe UI"/>
              </a:rPr>
              <a:t>: Đặng Thành </a:t>
            </a:r>
            <a:r>
              <a:rPr lang="en-US" sz="1500" dirty="0" err="1">
                <a:solidFill>
                  <a:srgbClr val="8A8984"/>
                </a:solidFill>
                <a:latin typeface="Segoe UI"/>
              </a:rPr>
              <a:t>Nhân</a:t>
            </a:r>
            <a:r>
              <a:rPr lang="en-US" sz="1500" dirty="0">
                <a:solidFill>
                  <a:srgbClr val="8A8984"/>
                </a:solidFill>
                <a:latin typeface="Segoe UI"/>
              </a:rPr>
              <a:t> - MSA38DN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Bài toán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72768"/>
          <a:ext cx="10874958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1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6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Dữ liệu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ICBHI 2017 — 920 bản ghi, 126 bệnh nhân, ~5,5 giờ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Đơn vị phân loại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6.898 chu kỳ thở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4 lớp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normal · crackle · wheeze · both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Phân chia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Official 60/40 — 4.142 train / 2.756 test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206240"/>
            <a:ext cx="108749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>
                <a:solidFill>
                  <a:srgbClr val="0B0B0B"/>
                </a:solidFill>
                <a:latin typeface="Segoe UI"/>
              </a:rPr>
              <a:t>Mất cân bằng nặng:  normal 3.642 · crackle 1.864 · wheeze 886 · </a:t>
            </a:r>
            <a:r>
              <a:rPr sz="1600" b="1">
                <a:solidFill>
                  <a:srgbClr val="0B0B0B"/>
                </a:solidFill>
                <a:latin typeface="Segoe UI"/>
              </a:rPr>
              <a:t>both chỉ 506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Thống kê bộ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3</a:t>
            </a:r>
          </a:p>
        </p:txBody>
      </p:sp>
      <p:pic>
        <p:nvPicPr>
          <p:cNvPr id="5" name="Picture 4" descr="04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296" y="1572768"/>
            <a:ext cx="8877102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Ba điều bảng số đã báo trước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0874959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2600"/>
              </a:spcAft>
            </a:pPr>
            <a:r>
              <a:rPr sz="1800" b="1">
                <a:solidFill>
                  <a:srgbClr val="0B0B0B"/>
                </a:solidFill>
                <a:latin typeface="Segoe UI"/>
              </a:rPr>
              <a:t>Train đã cân bằng, test thì không</a:t>
            </a:r>
            <a:r>
              <a:rPr sz="1800" b="0">
                <a:solidFill>
                  <a:srgbClr val="0B0B0B"/>
                </a:solidFill>
                <a:latin typeface="Segoe UI"/>
              </a:rPr>
              <a:t> — 49,8 % normal so với 57,3 %</a:t>
            </a:r>
          </a:p>
          <a:p>
            <a:pPr>
              <a:lnSpc>
                <a:spcPct val="128000"/>
              </a:lnSpc>
              <a:spcAft>
                <a:spcPts val="2600"/>
              </a:spcAft>
            </a:pPr>
            <a:r>
              <a:rPr sz="1800" b="1">
                <a:solidFill>
                  <a:srgbClr val="0B0B0B"/>
                </a:solidFill>
                <a:latin typeface="Segoe UI"/>
              </a:rPr>
              <a:t>Thiết bị mang theo phân bố lớp</a:t>
            </a:r>
            <a:r>
              <a:rPr sz="1800" b="0">
                <a:solidFill>
                  <a:srgbClr val="0B0B0B"/>
                </a:solidFill>
                <a:latin typeface="Segoe UI"/>
              </a:rPr>
              <a:t> — Meditron 71 % normal, AKGC417L chỉ 44 %</a:t>
            </a:r>
          </a:p>
          <a:p>
            <a:pPr>
              <a:lnSpc>
                <a:spcPct val="128000"/>
              </a:lnSpc>
              <a:spcAft>
                <a:spcPts val="2600"/>
              </a:spcAft>
            </a:pPr>
            <a:r>
              <a:rPr sz="1800" b="1">
                <a:solidFill>
                  <a:srgbClr val="0B0B0B"/>
                </a:solidFill>
                <a:latin typeface="Segoe UI"/>
              </a:rPr>
              <a:t>96,6 % chu kỳ ngắn hơn 5 giây</a:t>
            </a:r>
            <a:r>
              <a:rPr sz="1800" b="0">
                <a:solidFill>
                  <a:srgbClr val="0B0B0B"/>
                </a:solidFill>
                <a:latin typeface="Segoe UI"/>
              </a:rPr>
              <a:t> — trung bình chỉ 2,70 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Độ đo của ICBHI — không phải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0874959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0B0B0B"/>
                </a:solidFill>
                <a:latin typeface="Segoe UI"/>
              </a:rPr>
              <a:t>Score  =  ( Sp + Se ) / 2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Sp = recall của lớp normal        Se = recall gộp của ba lớp bất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40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52514E"/>
                </a:solidFill>
                <a:latin typeface="Segoe UI"/>
              </a:rPr>
              <a:t>Mô hình "luôn đoán normal":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520440"/>
          <a:ext cx="10874958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81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9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3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Chỉ số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Giá trị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Ý nghĩa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52,80 %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nghe được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Sp / Se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100 / </a:t>
                      </a:r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không phát hiện ca bệnh nào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ICBHI Score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50,00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phơi bày ngay thất bại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Cái bẫy: kết quả công bố trải từ 50 % đến 99 %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72768"/>
          <a:ext cx="10874958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799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3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1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Giao thức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So sánh được?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Official 60/40</a:t>
                      </a:r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, tách theo bệnh nhân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50–66 %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Đúng benchmark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Random 80/20, tách theo bệnh nhân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65–75 %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Dòng nghiên cứu khác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Chia ngẫu nhiên ở mức </a:t>
                      </a:r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chu kỳ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90–99 %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Rò rỉ bệnh nhân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160520"/>
            <a:ext cx="108749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52514E"/>
                </a:solidFill>
                <a:latin typeface="Segoe UI"/>
              </a:rPr>
              <a:t>Bài nào công bố "&gt;95 % trên ICBHI" là đang học thuộc bệnh nhân, không học bệnh lý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Khảo sát các mô hình hiện có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0874959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27 phương pháp</a:t>
            </a:r>
            <a:r>
              <a:rPr sz="1600" b="0">
                <a:solidFill>
                  <a:srgbClr val="0B0B0B"/>
                </a:solidFill>
                <a:latin typeface="Segoe UI"/>
              </a:rPr>
              <a:t> công bố 2020 – 2026, cùng giao thức Official 60/40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Tổng hợp từ </a:t>
            </a:r>
            <a:r>
              <a:rPr sz="1600" b="1">
                <a:solidFill>
                  <a:srgbClr val="0B0B0B"/>
                </a:solidFill>
                <a:latin typeface="Segoe UI"/>
              </a:rPr>
              <a:t>4 bài báo cùng tái lập kết quả của nhau</a:t>
            </a:r>
            <a:r>
              <a:rPr sz="1600" b="0">
                <a:solidFill>
                  <a:srgbClr val="0B0B0B"/>
                </a:solidFill>
                <a:latin typeface="Segoe UI"/>
              </a:rPr>
              <a:t> — BTS · Ensemble-KD · QLung · PAFA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endParaRPr sz="1600" b="0">
              <a:solidFill>
                <a:srgbClr val="0B0B0B"/>
              </a:solidFill>
              <a:latin typeface="Segoe UI"/>
            </a:endParaRP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Tiêu chí nhận vào bảng: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  ·  dùng đúng file phân chia chính thức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  ·  báo cáo đủ cả Sp, Se và Score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  ·  bài toán 4 lớp ở mức chu kỳ thở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Toàn cảnh: Score tăng dần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8</a:t>
            </a:r>
          </a:p>
        </p:txBody>
      </p:sp>
      <p:pic>
        <p:nvPicPr>
          <p:cNvPr id="5" name="Picture 4" descr="03_surv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167" y="1572768"/>
            <a:ext cx="6309360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Những mốc chính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72768"/>
          <a:ext cx="10874956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40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0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9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52514E"/>
                          </a:solidFill>
                          <a:latin typeface="Segoe UI"/>
                        </a:rPr>
                        <a:t>Phương pháp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52514E"/>
                          </a:solidFill>
                          <a:latin typeface="Segoe UI"/>
                        </a:rPr>
                        <a:t>Năm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52514E"/>
                          </a:solidFill>
                          <a:latin typeface="Segoe UI"/>
                        </a:rPr>
                        <a:t>Backbone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52514E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RespireNet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2021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ResNet34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56,20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AST + CE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2023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AST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59,55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AST + Patch-Mix CL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2023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AST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62,37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BEATs + CE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2025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BEATs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0B0B"/>
                          </a:solidFill>
                          <a:latin typeface="Segoe UI"/>
                        </a:rPr>
                        <a:t>63,49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BTS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2024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CLAP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63,54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PAFA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2025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BEATs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64,84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Meta-Ensemble (30× compute)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2026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2514E"/>
                          </a:solidFill>
                          <a:latin typeface="Segoe UI"/>
                        </a:rPr>
                        <a:t>66,49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BAF7A"/>
                </a:solidFill>
                <a:latin typeface="Segoe UI"/>
              </a:rPr>
              <a:t>PHÁT HIỆN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Backbone quan trọng hơn phương pháp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03120"/>
            <a:ext cx="10874959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5800" b="1">
                <a:solidFill>
                  <a:srgbClr val="1BAF7A"/>
                </a:solidFill>
                <a:latin typeface="Segoe UI"/>
              </a:rPr>
              <a:t>63,49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37560"/>
            <a:ext cx="1087495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BEATs + cross-entropy thuần</a:t>
            </a:r>
            <a:r>
              <a:rPr sz="1600" b="0">
                <a:solidFill>
                  <a:srgbClr val="0B0B0B"/>
                </a:solidFill>
                <a:latin typeface="Segoe UI"/>
              </a:rPr>
              <a:t> — không thêm kỹ thuật nào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Cao hơn AST + Patch-Mix (62,37) · ngang BTS (63,54)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120640"/>
            <a:ext cx="1087495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 dirty="0" err="1">
                <a:solidFill>
                  <a:srgbClr val="0B0B0B"/>
                </a:solidFill>
                <a:latin typeface="Segoe UI"/>
              </a:rPr>
              <a:t>Hệ</a:t>
            </a:r>
            <a:r>
              <a:rPr sz="1700" b="1" dirty="0">
                <a:solidFill>
                  <a:srgbClr val="0B0B0B"/>
                </a:solidFill>
                <a:latin typeface="Segoe UI"/>
              </a:rPr>
              <a:t> </a:t>
            </a:r>
            <a:r>
              <a:rPr sz="1700" b="1" dirty="0" err="1">
                <a:solidFill>
                  <a:srgbClr val="0B0B0B"/>
                </a:solidFill>
                <a:latin typeface="Segoe UI"/>
              </a:rPr>
              <a:t>quả</a:t>
            </a:r>
            <a:r>
              <a:rPr sz="1700" b="1" dirty="0">
                <a:solidFill>
                  <a:srgbClr val="0B0B0B"/>
                </a:solidFill>
                <a:latin typeface="Segoe UI"/>
              </a:rPr>
              <a:t>:</a:t>
            </a:r>
            <a:r>
              <a:rPr sz="17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0B0B0B"/>
                </a:solidFill>
                <a:latin typeface="Segoe UI"/>
              </a:rPr>
              <a:t>mốc</a:t>
            </a:r>
            <a:r>
              <a:rPr sz="17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0B0B0B"/>
                </a:solidFill>
                <a:latin typeface="Segoe UI"/>
              </a:rPr>
              <a:t>phải</a:t>
            </a:r>
            <a:r>
              <a:rPr sz="17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0B0B0B"/>
                </a:solidFill>
                <a:latin typeface="Segoe UI"/>
              </a:rPr>
              <a:t>vượt</a:t>
            </a:r>
            <a:r>
              <a:rPr sz="17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0B0B0B"/>
                </a:solidFill>
                <a:latin typeface="Segoe UI"/>
              </a:rPr>
              <a:t>là</a:t>
            </a:r>
            <a:r>
              <a:rPr sz="17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700" b="1" dirty="0">
                <a:solidFill>
                  <a:srgbClr val="0B0B0B"/>
                </a:solidFill>
                <a:latin typeface="Segoe UI"/>
              </a:rPr>
              <a:t>63,49</a:t>
            </a:r>
            <a:r>
              <a:rPr sz="1700" b="0" dirty="0">
                <a:solidFill>
                  <a:srgbClr val="0B0B0B"/>
                </a:solidFill>
                <a:latin typeface="Segoe UI"/>
              </a:rPr>
              <a:t>, </a:t>
            </a:r>
            <a:r>
              <a:rPr sz="1700" b="0" dirty="0" err="1">
                <a:solidFill>
                  <a:srgbClr val="0B0B0B"/>
                </a:solidFill>
                <a:latin typeface="Segoe UI"/>
              </a:rPr>
              <a:t>không</a:t>
            </a:r>
            <a:r>
              <a:rPr sz="17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0B0B0B"/>
                </a:solidFill>
                <a:latin typeface="Segoe UI"/>
              </a:rPr>
              <a:t>phải</a:t>
            </a:r>
            <a:r>
              <a:rPr sz="1700" b="0" dirty="0">
                <a:solidFill>
                  <a:srgbClr val="0B0B0B"/>
                </a:solidFill>
                <a:latin typeface="Segoe UI"/>
              </a:rPr>
              <a:t> 62,37</a:t>
            </a:r>
          </a:p>
          <a:p>
            <a:pPr>
              <a:spcBef>
                <a:spcPts val="800"/>
              </a:spcBef>
            </a:pPr>
            <a:r>
              <a:rPr sz="1400" b="0" dirty="0" err="1">
                <a:solidFill>
                  <a:srgbClr val="52514E"/>
                </a:solidFill>
                <a:latin typeface="Segoe UI"/>
              </a:rPr>
              <a:t>Vượt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62,37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chẳng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chứng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minh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gì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nếu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chỉ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cần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đổi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backbone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là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đã</a:t>
            </a:r>
            <a:r>
              <a:rPr sz="1400" b="0" dirty="0">
                <a:solidFill>
                  <a:srgbClr val="52514E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2514E"/>
                </a:solidFill>
                <a:latin typeface="Segoe UI"/>
              </a:rPr>
              <a:t>vượt</a:t>
            </a:r>
            <a:endParaRPr sz="1400" b="0" dirty="0">
              <a:solidFill>
                <a:srgbClr val="52514E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BEATs được tiền huấn luyện thế nào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11</a:t>
            </a:r>
          </a:p>
        </p:txBody>
      </p:sp>
      <p:pic>
        <p:nvPicPr>
          <p:cNvPr id="5" name="Picture 4" descr="06_beats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454" y="1691640"/>
            <a:ext cx="8460786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254496"/>
            <a:ext cx="977767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>
                <a:solidFill>
                  <a:srgbClr val="8A8984"/>
                </a:solidFill>
                <a:latin typeface="Segoe UI"/>
              </a:rPr>
              <a:t>Nguồn: Chen et al., "BEATs: Audio Pre-Training with Acoustic Tokenizers", ICML 2023 — Hình 1 (arXiv:2212.09058)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Acoustic tokenizer sinh nhãn rời rạc thế nào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12</a:t>
            </a:r>
          </a:p>
        </p:txBody>
      </p:sp>
      <p:pic>
        <p:nvPicPr>
          <p:cNvPr id="5" name="Picture 4" descr="07_beats_tokeniz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982" y="1645920"/>
            <a:ext cx="7229731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254496"/>
            <a:ext cx="977767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0">
                <a:solidFill>
                  <a:srgbClr val="8A8984"/>
                </a:solidFill>
                <a:latin typeface="Segoe UI"/>
              </a:rPr>
              <a:t>Nguồn: Chen et al., ICML 2023 — Hình 2 (arXiv:2212.09058)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Vì sao BEATs khác 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72768"/>
          <a:ext cx="10874957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45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AST (2021)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BEATs (2023)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Tiền huấn luyện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Có giám sát</a:t>
                      </a:r>
                      <a:r>
                        <a:rPr sz="1450" b="0">
                          <a:solidFill>
                            <a:srgbClr val="0B0B0B"/>
                          </a:solidFill>
                          <a:latin typeface="Segoe UI"/>
                        </a:rPr>
                        <a:t> trên 527 nhãn AudioSet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Tự giám sát</a:t>
                      </a:r>
                      <a:r>
                        <a:rPr sz="1450" b="0">
                          <a:solidFill>
                            <a:srgbClr val="0B0B0B"/>
                          </a:solidFill>
                          <a:latin typeface="Segoe UI"/>
                        </a:rPr>
                        <a:t>, đoán token bị che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Khởi tạo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Từ ViT của ImageNet — ảnh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Từ chính dữ liệu âm thanh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Tham số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~86 M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~90 M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AudioSet mAP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45,9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48,6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480560"/>
            <a:ext cx="1087495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B0B0B"/>
                </a:solidFill>
                <a:latin typeface="Segoe UI"/>
              </a:rPr>
              <a:t>Giả thuyết:</a:t>
            </a:r>
            <a:r>
              <a:rPr sz="1500" b="0">
                <a:solidFill>
                  <a:srgbClr val="0B0B0B"/>
                </a:solidFill>
                <a:latin typeface="Segoe UI"/>
              </a:rPr>
              <a:t> tự giám sát học cấu trúc âm học mịn hơn, thay vì bị định hình bởi 527 nhãn sự kiện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— mà crackle và wheeze chẳng giống lớp nào trong AudioSet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BAF7A"/>
                </a:solidFill>
                <a:latin typeface="Segoe UI"/>
              </a:rPr>
              <a:t>PHÁT HIỆN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Sensitivity mới là nút thắt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14</a:t>
            </a:r>
          </a:p>
        </p:txBody>
      </p:sp>
      <p:pic>
        <p:nvPicPr>
          <p:cNvPr id="6" name="Picture 5" descr="01_se-vs-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739" y="1572768"/>
            <a:ext cx="6574217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Hướng cải tiến đã chọn: A + B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72768"/>
          <a:ext cx="10874958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18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6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0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Ý tưởng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Bằng chứng trước đó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Đưa metadata (thiết bị · vị trí nghe · tuổi · giới) vào BEATs qua FiLM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B0B0B"/>
                          </a:solidFill>
                          <a:latin typeface="Segoe UI"/>
                        </a:rPr>
                        <a:t>BTS: </a:t>
                      </a:r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+0,98</a:t>
                      </a:r>
                      <a:r>
                        <a:rPr sz="1450" b="0">
                          <a:solidFill>
                            <a:srgbClr val="0B0B0B"/>
                          </a:solidFill>
                          <a:latin typeface="Segoe UI"/>
                        </a:rPr>
                        <a:t> trên CLAP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Hàm loss cân bằng hai nhóm, khớp đúng công thức Score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B0B0B"/>
                          </a:solidFill>
                          <a:latin typeface="Segoe UI"/>
                        </a:rPr>
                        <a:t>QLung: </a:t>
                      </a:r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+2,46</a:t>
                      </a:r>
                      <a:r>
                        <a:rPr sz="1450" b="0">
                          <a:solidFill>
                            <a:srgbClr val="0B0B0B"/>
                          </a:solidFill>
                          <a:latin typeface="Segoe UI"/>
                        </a:rPr>
                        <a:t> trên AST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429000"/>
            <a:ext cx="10874959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B0B0B"/>
                </a:solidFill>
                <a:latin typeface="Segoe UI"/>
              </a:rPr>
              <a:t>Lập luận của hướng B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B0B0B"/>
                </a:solidFill>
                <a:latin typeface="Segoe UI"/>
              </a:rPr>
              <a:t>Score  =  ½ × recall(normal)  +  ½ × recall(bất thường gộp)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→ hàm loss khớp độ đo là </a:t>
            </a:r>
            <a:r>
              <a:rPr sz="1500" b="1">
                <a:solidFill>
                  <a:srgbClr val="52514E"/>
                </a:solidFill>
                <a:latin typeface="Segoe UI"/>
              </a:rPr>
              <a:t>CE cân bằng theo nhóm</a:t>
            </a:r>
            <a:r>
              <a:rPr sz="1500" b="0">
                <a:solidFill>
                  <a:srgbClr val="52514E"/>
                </a:solidFill>
                <a:latin typeface="Segoe UI"/>
              </a:rPr>
              <a:t> — không phải focal, cũng không phải CE cân bằng 4 lớp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B0B0B"/>
                </a:solidFill>
                <a:latin typeface="Segoe UI"/>
              </a:rPr>
              <a:t>Mô hình đề xuất:  </a:t>
            </a:r>
            <a:r>
              <a:rPr sz="1700" b="1">
                <a:solidFill>
                  <a:srgbClr val="0B0B0B"/>
                </a:solidFill>
                <a:latin typeface="Segoe UI"/>
              </a:rPr>
              <a:t>MC-BEATs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Thiết lập thí nghiệm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72768"/>
          <a:ext cx="10874958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88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6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Dòng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Cấu hình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BEATs + CE  —  </a:t>
                      </a:r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mốc đối chứng, tự train lại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+ group-balanced loss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+ hiệu chỉnh prior  *(hậu kỳ, không train lại)*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+ metadata nối trực tiếp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MC-BEATs</a:t>
                      </a:r>
                      <a:r>
                        <a:rPr sz="1500" b="0">
                          <a:solidFill>
                            <a:srgbClr val="0B0B0B"/>
                          </a:solidFill>
                          <a:latin typeface="Segoe UI"/>
                        </a:rPr>
                        <a:t>  —  metadata qua FiLM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892040"/>
            <a:ext cx="108749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52514E"/>
                </a:solidFill>
                <a:latin typeface="Segoe UI"/>
              </a:rPr>
              <a:t>Siêu tham số lấy đúng theo PAFA  ·  Colab Pro  ·  checkpoint tự khôi phục khi đứt phiên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Pipeline của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17</a:t>
            </a:r>
          </a:p>
        </p:txBody>
      </p:sp>
      <p:pic>
        <p:nvPicPr>
          <p:cNvPr id="5" name="Picture 4" descr="05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34" y="1572768"/>
            <a:ext cx="9002027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Ba quyết định trong pipeline đáng chú ý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0874959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Cache waveform 16 kHz, không cache spectrogram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  BEATs tự tính fbank bên trong · cache phổ phình từ 600 MB lên 1,4–2,8 GB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endParaRPr sz="1500" b="0">
              <a:solidFill>
                <a:srgbClr val="0B0B0B"/>
              </a:solidFill>
              <a:latin typeface="Segoe UI"/>
            </a:endParaRP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Chu kỳ ngắn thì lặp lại, không đệm số 0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  96,6 % chu kỳ ngắn hơn 5 s · đệm 0 tạo khoảng lặng không có thật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endParaRPr sz="1500" b="0">
              <a:solidFill>
                <a:srgbClr val="0B0B0B"/>
              </a:solidFill>
              <a:latin typeface="Segoe UI"/>
            </a:endParaRP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Không dùng float16</a:t>
            </a:r>
            <a:r>
              <a:rPr sz="1500" b="0">
                <a:solidFill>
                  <a:srgbClr val="0B0B0B"/>
                </a:solidFill>
                <a:latin typeface="Segoe UI"/>
              </a:rPr>
              <a:t> — BEATs sinh loss = NaN</a:t>
            </a:r>
          </a:p>
          <a:p>
            <a:pPr>
              <a:lnSpc>
                <a:spcPct val="128000"/>
              </a:lnSpc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  argmax của NaN luôn trả về lớp 0 → "luôn đoán normal" → Score đúng 50,00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Kiểm tra giao thức phát hiện 3 lỗi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72768"/>
          <a:ext cx="10874958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52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Lỗi trong bộ dữ liệu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Hậu quả nếu bỏ qua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Zip chứa file .txt không phải chú thích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Crash khi phân tích tên file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Split chính thức không tách hoàn toàn theo bệnh nhân (156, 218)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Tưởng nhầm là lỗi pipeline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Bản ghi `226_1b1_Pl` ghi sai tên thiết bị trong file split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B0B0B"/>
                          </a:solidFill>
                          <a:latin typeface="Segoe UI"/>
                        </a:rPr>
                        <a:t>Mất </a:t>
                      </a:r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11 chu kỳ</a:t>
                      </a:r>
                      <a:r>
                        <a:rPr sz="1450" b="0">
                          <a:solidFill>
                            <a:srgbClr val="0B0B0B"/>
                          </a:solidFill>
                          <a:latin typeface="Segoe UI"/>
                        </a:rPr>
                        <a:t>, train còn 4.131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343400"/>
            <a:ext cx="1087495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0B0B0B"/>
                </a:solidFill>
                <a:latin typeface="Segoe UI"/>
              </a:rPr>
              <a:t>Không có bước kiểm tra này, ta đã train trên </a:t>
            </a:r>
            <a:r>
              <a:rPr sz="1500" b="1">
                <a:solidFill>
                  <a:srgbClr val="0B0B0B"/>
                </a:solidFill>
                <a:latin typeface="Segoe UI"/>
              </a:rPr>
              <a:t>4.131</a:t>
            </a:r>
            <a:r>
              <a:rPr sz="1500" b="0">
                <a:solidFill>
                  <a:srgbClr val="0B0B0B"/>
                </a:solidFill>
                <a:latin typeface="Segoe UI"/>
              </a:rPr>
              <a:t> chu kỳ rồi so với các con số tính trên </a:t>
            </a:r>
            <a:r>
              <a:rPr sz="1500" b="1">
                <a:solidFill>
                  <a:srgbClr val="0B0B0B"/>
                </a:solidFill>
                <a:latin typeface="Segoe UI"/>
              </a:rPr>
              <a:t>4.142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Kết quả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72768"/>
          <a:ext cx="10874955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24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49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24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Dòng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n_seed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Sp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Se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Δ vs dòng 0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0 · BEATs + CE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69,63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53,74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61,69 ± 1,45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1 · group-balanced loss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71,94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53,36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dirty="0">
                          <a:solidFill>
                            <a:srgbClr val="52514E"/>
                          </a:solidFill>
                          <a:latin typeface="Segoe UI"/>
                        </a:rPr>
                        <a:t>62,65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dirty="0">
                          <a:solidFill>
                            <a:srgbClr val="52514E"/>
                          </a:solidFill>
                          <a:latin typeface="Segoe UI"/>
                        </a:rPr>
                        <a:t>+0,96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2 · hiệu chỉnh prior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68,71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54,80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dirty="0">
                          <a:solidFill>
                            <a:srgbClr val="52514E"/>
                          </a:solidFill>
                          <a:latin typeface="Segoe UI"/>
                        </a:rPr>
                        <a:t>61,76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dirty="0">
                          <a:solidFill>
                            <a:srgbClr val="52514E"/>
                          </a:solidFill>
                          <a:latin typeface="Segoe UI"/>
                        </a:rPr>
                        <a:t>+0,07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3 · metadata concat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68,52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54,29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61,41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dirty="0">
                          <a:solidFill>
                            <a:srgbClr val="52514E"/>
                          </a:solidFill>
                          <a:latin typeface="Segoe UI"/>
                        </a:rPr>
                        <a:t>−0,28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B0B0B"/>
                          </a:solidFill>
                          <a:latin typeface="Segoe UI"/>
                        </a:rPr>
                        <a:t>4 · </a:t>
                      </a:r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MC-BEATs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72,77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49,28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61,02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 dirty="0">
                          <a:solidFill>
                            <a:srgbClr val="52514E"/>
                          </a:solidFill>
                          <a:latin typeface="Segoe UI"/>
                        </a:rPr>
                        <a:t>−0,66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663440"/>
            <a:ext cx="108749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>
                <a:solidFill>
                  <a:srgbClr val="0B0B0B"/>
                </a:solidFill>
                <a:latin typeface="Segoe UI"/>
              </a:rPr>
              <a:t>Thanh sai số của dòng 0 </a:t>
            </a:r>
            <a:r>
              <a:rPr sz="1600" b="1">
                <a:solidFill>
                  <a:srgbClr val="0B0B0B"/>
                </a:solidFill>
                <a:latin typeface="Segoe UI"/>
              </a:rPr>
              <a:t>phủ trùm điểm số của cả bốn dòng còn lại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Bảng khảo sát loại bỏ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21</a:t>
            </a:r>
          </a:p>
        </p:txBody>
      </p:sp>
      <p:pic>
        <p:nvPicPr>
          <p:cNvPr id="5" name="Picture 4" descr="02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376" y="1572768"/>
            <a:ext cx="8234942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Nhiễu lớn hơn tín hiệu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72768"/>
          <a:ext cx="5852160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0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Dòng 0 — cùng cấu hình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Sp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Se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seed 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73,08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52,34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62,71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seed 2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66,18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55,14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60,66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chênh lệch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6,90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2,80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2,05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4114800"/>
          <a:ext cx="6309359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8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Giá trị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B0B0B"/>
                          </a:solidFill>
                          <a:latin typeface="Segoe UI"/>
                        </a:rPr>
                        <a:t>Chênh lệch giữa hai seed, </a:t>
                      </a:r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cùng cấu hình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2,05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0B0B0B"/>
                          </a:solidFill>
                          <a:latin typeface="Segoe UI"/>
                        </a:rPr>
                        <a:t>Hiệu ứng lớn nhất giữa các </a:t>
                      </a:r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phương pháp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0,96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486400"/>
            <a:ext cx="108749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Segoe UI"/>
              </a:rPr>
              <a:t>Nhiễu gấp hơn hai lần tín hiệu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Thêm một seed, bảng đảo chiều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72768"/>
          <a:ext cx="10874957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72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3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3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Dòng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Với dòng 0 1 seed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Với dòng 0 2 seed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1 · group-balanced loss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−0,06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+0,96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2 · hiệu chỉnh prior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−0,95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+0,07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3 · metadata concat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−1,30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−0,28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4 · MC-BEATs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−1,69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−0,66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480560"/>
            <a:ext cx="1087495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B0B0B"/>
                </a:solidFill>
                <a:latin typeface="Segoe UI"/>
              </a:rPr>
              <a:t>Không có gì trong mô hình thay đổi</a:t>
            </a:r>
            <a:r>
              <a:rPr sz="1700" b="0">
                <a:solidFill>
                  <a:srgbClr val="0B0B0B"/>
                </a:solidFill>
                <a:latin typeface="Segoe UI"/>
              </a:rPr>
              <a:t> — chỉ có mẫu thống kê thay đổi</a:t>
            </a:r>
          </a:p>
          <a:p>
            <a:pPr>
              <a:spcBef>
                <a:spcPts val="1400"/>
              </a:spcBef>
            </a:pPr>
            <a:r>
              <a:rPr sz="1900" b="1">
                <a:solidFill>
                  <a:srgbClr val="EB6834"/>
                </a:solidFill>
                <a:latin typeface="Segoe UI"/>
              </a:rPr>
              <a:t>Một seed không phải là một kết quả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Segoe UI"/>
              </a:rPr>
              <a:t>VÌ SAO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Hàm loss gần như không làm gì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49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0B0B0B"/>
                </a:solidFill>
                <a:latin typeface="Segoe UI"/>
              </a:rPr>
              <a:t>Trọng số thực tế in ra:   </a:t>
            </a:r>
            <a:r>
              <a:rPr sz="1700" b="1">
                <a:solidFill>
                  <a:srgbClr val="0B0B0B"/>
                </a:solidFill>
                <a:latin typeface="Segoe UI"/>
              </a:rPr>
              <a:t>[ 1.006,  0.998,  0.998,  0.998 ]</a:t>
            </a:r>
            <a:r>
              <a:rPr sz="1700" b="0">
                <a:solidFill>
                  <a:srgbClr val="0B0B0B"/>
                </a:solidFill>
                <a:latin typeface="Segoe UI"/>
              </a:rPr>
              <a:t>   →  gần như bằng 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514600"/>
          <a:ext cx="10874957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24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6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6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6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normal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bất thường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2514E"/>
                          </a:solidFill>
                          <a:latin typeface="Segoe UI"/>
                        </a:rPr>
                        <a:t>tỉ lệ normal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Toàn bộ dữ liệu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3.642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3.256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52514E"/>
                          </a:solidFill>
                          <a:latin typeface="Segoe UI"/>
                        </a:rPr>
                        <a:t>52,8 %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Tập train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2.063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2.079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49,8 %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Tập test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1.579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1.177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0B0B0B"/>
                          </a:solidFill>
                          <a:latin typeface="Segoe UI"/>
                        </a:rPr>
                        <a:t>57,3 %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4526280"/>
            <a:ext cx="1087495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B0B0B"/>
                </a:solidFill>
                <a:latin typeface="Segoe UI"/>
              </a:rPr>
              <a:t>Tiền đề của hướng B sai</a:t>
            </a:r>
            <a:r>
              <a:rPr sz="1600" b="0">
                <a:solidFill>
                  <a:srgbClr val="0B0B0B"/>
                </a:solidFill>
                <a:latin typeface="Segoe UI"/>
              </a:rPr>
              <a:t> — tập train đã cân bằng gần như hoàn hảo giữa hai nhóm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Mất cân bằng thật nằm bên trong nhóm bất thường (both chỉ 506) — đúng thứ loss này không đụng tới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Segoe UI"/>
              </a:rPr>
              <a:t>VÌ SAO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Train và test lệch phân bố lớp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572768"/>
          <a:ext cx="3840479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94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5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Tỉ lệ normal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Train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49,8 %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57,3 %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3246120"/>
            <a:ext cx="1087495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52514E"/>
                </a:solidFill>
                <a:latin typeface="Segoe UI"/>
              </a:rPr>
              <a:t>Kết quả hiệu chỉnh trên dòng 1 (gốc 62,65):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3749039"/>
          <a:ext cx="6858000" cy="731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prior (δ = −1,23)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val (δ = −0,20)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oracle (δ = +0,55)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55,97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61,76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63,82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4892040"/>
            <a:ext cx="10874959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δ tối ưu là </a:t>
            </a:r>
            <a:r>
              <a:rPr sz="1500" b="1">
                <a:solidFill>
                  <a:srgbClr val="0B0B0B"/>
                </a:solidFill>
                <a:latin typeface="Segoe UI"/>
              </a:rPr>
              <a:t>dương</a:t>
            </a:r>
            <a:r>
              <a:rPr sz="1500" b="0">
                <a:solidFill>
                  <a:srgbClr val="0B0B0B"/>
                </a:solidFill>
                <a:latin typeface="Segoe UI"/>
              </a:rPr>
              <a:t> — phải đoán normal </a:t>
            </a:r>
            <a:r>
              <a:rPr sz="1500" b="1">
                <a:solidFill>
                  <a:srgbClr val="0B0B0B"/>
                </a:solidFill>
                <a:latin typeface="Segoe UI"/>
              </a:rPr>
              <a:t>nhiều hơn</a:t>
            </a:r>
            <a:r>
              <a:rPr sz="1500" b="0">
                <a:solidFill>
                  <a:srgbClr val="0B0B0B"/>
                </a:solidFill>
                <a:latin typeface="Segoe UI"/>
              </a:rPr>
              <a:t>, ngược hẳn kỳ vọng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Val cắt từ train nên mang phân bố của train → </a:t>
            </a:r>
            <a:r>
              <a:rPr sz="1500" b="1">
                <a:solidFill>
                  <a:srgbClr val="0B0B0B"/>
                </a:solidFill>
                <a:latin typeface="Segoe UI"/>
              </a:rPr>
              <a:t>chỉ sai hướng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Oracle cho thấy </a:t>
            </a:r>
            <a:r>
              <a:rPr sz="1500" b="1">
                <a:solidFill>
                  <a:srgbClr val="0B0B0B"/>
                </a:solidFill>
                <a:latin typeface="Segoe UI"/>
              </a:rPr>
              <a:t>+1,17 vẫn đang nằm trên bàn</a:t>
            </a:r>
            <a:r>
              <a:rPr sz="1500" b="0">
                <a:solidFill>
                  <a:srgbClr val="0B0B0B"/>
                </a:solidFill>
                <a:latin typeface="Segoe UI"/>
              </a:rPr>
              <a:t> nếu hiệu chỉnh đúng cách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A78D6"/>
                </a:solidFill>
                <a:latin typeface="Segoe UI"/>
              </a:rPr>
              <a:t>VÌ SAO 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Hiệu năng phụ thuộc thiết bị tới 12,7 điểm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572768"/>
          <a:ext cx="10874955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39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1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1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Thiết bị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n (test)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Sp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Se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52514E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>
                    <a:solidFill>
                      <a:srgbClr val="F1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Meditron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459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89,81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37,24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63,53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AKGC417L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1.836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70,32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52,90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61,61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Litt3200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461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63,38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2514E"/>
                          </a:solidFill>
                          <a:latin typeface="Segoe UI"/>
                        </a:rPr>
                        <a:t>38,24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0B0B"/>
                          </a:solidFill>
                          <a:latin typeface="Segoe UI"/>
                        </a:rPr>
                        <a:t>50,81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251960"/>
            <a:ext cx="10874959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Khoảng cách </a:t>
            </a:r>
            <a:r>
              <a:rPr sz="1500" b="1">
                <a:solidFill>
                  <a:srgbClr val="0B0B0B"/>
                </a:solidFill>
                <a:latin typeface="Segoe UI"/>
              </a:rPr>
              <a:t>lớn hơn mọi hiệu ứng</a:t>
            </a:r>
            <a:r>
              <a:rPr sz="1500" b="0">
                <a:solidFill>
                  <a:srgbClr val="0B0B0B"/>
                </a:solidFill>
                <a:latin typeface="Segoe UI"/>
              </a:rPr>
              <a:t> đang được so sánh trong bảng ablation</a:t>
            </a:r>
          </a:p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Litt3200 gần như vô dụng — chỉ nhỉnh hơn mô hình luôn đoán normal (50,00)</a:t>
            </a:r>
          </a:p>
          <a:p>
            <a:pPr>
              <a:lnSpc>
                <a:spcPct val="128000"/>
              </a:lnSpc>
              <a:spcAft>
                <a:spcPts val="9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Giải thích vì sao metadata gây hại: thiết bị mang thông tin về </a:t>
            </a:r>
            <a:r>
              <a:rPr sz="1500" b="1">
                <a:solidFill>
                  <a:srgbClr val="0B0B0B"/>
                </a:solidFill>
                <a:latin typeface="Segoe UI"/>
              </a:rPr>
              <a:t>nhóm bệnh nhân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Hạn chế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0874959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Số seed quá ít</a:t>
            </a:r>
            <a:r>
              <a:rPr sz="1500" b="0">
                <a:solidFill>
                  <a:srgbClr val="0B0B0B"/>
                </a:solidFill>
                <a:latin typeface="Segoe UI"/>
              </a:rPr>
              <a:t> — dòng 0 có 2, các dòng khác chỉ 1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  Không còn là hạn chế bên lề mà </a:t>
            </a:r>
            <a:r>
              <a:rPr sz="1500" b="1">
                <a:solidFill>
                  <a:srgbClr val="0B0B0B"/>
                </a:solidFill>
                <a:latin typeface="Segoe UI"/>
              </a:rPr>
              <a:t>chính là kết quả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endParaRPr sz="1500" b="1">
              <a:solidFill>
                <a:srgbClr val="0B0B0B"/>
              </a:solidFill>
              <a:latin typeface="Segoe UI"/>
            </a:endParaRP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σ = 1,45 ước lượng từ đúng 2 mẫu</a:t>
            </a:r>
            <a:r>
              <a:rPr sz="1500" b="0">
                <a:solidFill>
                  <a:srgbClr val="0B0B0B"/>
                </a:solidFill>
                <a:latin typeface="Segoe UI"/>
              </a:rPr>
              <a:t> — bản thân con số này cũng rất không chắc chắn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endParaRPr sz="1500" b="0">
              <a:solidFill>
                <a:srgbClr val="0B0B0B"/>
              </a:solidFill>
              <a:latin typeface="Segoe UI"/>
            </a:endParaRP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Chọn epoch tốt nhất dựa trên tập test</a:t>
            </a:r>
            <a:r>
              <a:rPr sz="1500" b="0">
                <a:solidFill>
                  <a:srgbClr val="0B0B0B"/>
                </a:solidFill>
                <a:latin typeface="Segoe UI"/>
              </a:rPr>
              <a:t> — quy ước của cả lĩnh vực,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     nhưng chọn cực trị trên test khuếch đại nhiễu</a:t>
            </a:r>
          </a:p>
          <a:p>
            <a:pPr>
              <a:lnSpc>
                <a:spcPct val="128000"/>
              </a:lnSpc>
              <a:spcAft>
                <a:spcPts val="500"/>
              </a:spcAft>
            </a:pPr>
            <a:endParaRPr sz="1500" b="0">
              <a:solidFill>
                <a:srgbClr val="0B0B0B"/>
              </a:solidFill>
              <a:latin typeface="Segoe UI"/>
            </a:endParaRPr>
          </a:p>
          <a:p>
            <a:pPr>
              <a:lnSpc>
                <a:spcPct val="128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File phân chia chính thức rò rỉ nhẹ</a:t>
            </a:r>
            <a:r>
              <a:rPr sz="1500" b="0">
                <a:solidFill>
                  <a:srgbClr val="0B0B0B"/>
                </a:solidFill>
                <a:latin typeface="Segoe UI"/>
              </a:rPr>
              <a:t> — 2 trên 126 bệnh nhân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Kết luận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0874959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Ba kết luận </a:t>
            </a:r>
            <a:r>
              <a:rPr sz="1600" b="1">
                <a:solidFill>
                  <a:srgbClr val="0B0B0B"/>
                </a:solidFill>
                <a:latin typeface="Segoe UI"/>
              </a:rPr>
              <a:t>không phụ thuộc vấn đề seed</a:t>
            </a:r>
            <a:r>
              <a:rPr sz="1600" b="0">
                <a:solidFill>
                  <a:srgbClr val="0B0B0B"/>
                </a:solidFill>
                <a:latin typeface="Segoe UI"/>
              </a:rPr>
              <a:t> — đọc thẳng từ dữ liệu: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endParaRPr sz="1600" b="0">
              <a:solidFill>
                <a:srgbClr val="0B0B0B"/>
              </a:solidFill>
              <a:latin typeface="Segoe UI"/>
            </a:endParaRP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1.</a:t>
            </a:r>
            <a:r>
              <a:rPr sz="1600" b="0">
                <a:solidFill>
                  <a:srgbClr val="0B0B0B"/>
                </a:solidFill>
                <a:latin typeface="Segoe UI"/>
              </a:rPr>
              <a:t>  Tập train ICBHI </a:t>
            </a:r>
            <a:r>
              <a:rPr sz="1600" b="1">
                <a:solidFill>
                  <a:srgbClr val="0B0B0B"/>
                </a:solidFill>
                <a:latin typeface="Segoe UI"/>
              </a:rPr>
              <a:t>đã cân bằng hai nhóm</a:t>
            </a:r>
            <a:r>
              <a:rPr sz="1600" b="0">
                <a:solidFill>
                  <a:srgbClr val="0B0B0B"/>
                </a:solidFill>
                <a:latin typeface="Segoe UI"/>
              </a:rPr>
              <a:t> → hàm loss khớp độ đo hoá ra vô nghĩa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2.</a:t>
            </a:r>
            <a:r>
              <a:rPr sz="1600" b="0">
                <a:solidFill>
                  <a:srgbClr val="0B0B0B"/>
                </a:solidFill>
                <a:latin typeface="Segoe UI"/>
              </a:rPr>
              <a:t>  Train và test </a:t>
            </a:r>
            <a:r>
              <a:rPr sz="1600" b="1">
                <a:solidFill>
                  <a:srgbClr val="0B0B0B"/>
                </a:solidFill>
                <a:latin typeface="Segoe UI"/>
              </a:rPr>
              <a:t>lệch phân bố lớp</a:t>
            </a:r>
            <a:r>
              <a:rPr sz="1600" b="0">
                <a:solidFill>
                  <a:srgbClr val="0B0B0B"/>
                </a:solidFill>
                <a:latin typeface="Segoe UI"/>
              </a:rPr>
              <a:t> → hiệu chỉnh dựa trên val đi sai hướng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3.</a:t>
            </a:r>
            <a:r>
              <a:rPr sz="1600" b="0">
                <a:solidFill>
                  <a:srgbClr val="0B0B0B"/>
                </a:solidFill>
                <a:latin typeface="Segoe UI"/>
              </a:rPr>
              <a:t>  Hiệu năng </a:t>
            </a:r>
            <a:r>
              <a:rPr sz="1600" b="1">
                <a:solidFill>
                  <a:srgbClr val="0B0B0B"/>
                </a:solidFill>
                <a:latin typeface="Segoe UI"/>
              </a:rPr>
              <a:t>phụ thuộc thiết bị 12,7 điểm</a:t>
            </a:r>
            <a:r>
              <a:rPr sz="1600" b="0">
                <a:solidFill>
                  <a:srgbClr val="0B0B0B"/>
                </a:solidFill>
                <a:latin typeface="Segoe UI"/>
              </a:rPr>
              <a:t> → nhấn chìm khác biệt giữa các phương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434840"/>
            <a:ext cx="1087495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52514E"/>
                </a:solidFill>
                <a:latin typeface="Segoe UI"/>
              </a:rPr>
              <a:t>Và kết luận thứ tư, về phương pháp luận: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0B0B0B"/>
                </a:solidFill>
                <a:latin typeface="Segoe UI"/>
              </a:rPr>
              <a:t>Phương sai giữa các seed lớn hơn khoảng cách giữa các phương pháp đang cạnh tranh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52514E"/>
                </a:solidFill>
                <a:latin typeface="Segoe UI"/>
              </a:rPr>
              <a:t>→ đặt dấu hỏi cho mọi bài báo báo cáo mức cải thiện dưới 1 điểm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75488"/>
            <a:ext cx="10874959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Segoe UI"/>
              </a:rPr>
              <a:t>Hướng đi tiếp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960120" cy="406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0874959" cy="4645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1.</a:t>
            </a:r>
            <a:r>
              <a:rPr sz="1600" b="0">
                <a:solidFill>
                  <a:srgbClr val="0B0B0B"/>
                </a:solidFill>
                <a:latin typeface="Segoe UI"/>
              </a:rPr>
              <a:t>  Chạy đủ </a:t>
            </a:r>
            <a:r>
              <a:rPr sz="1600" b="1">
                <a:solidFill>
                  <a:srgbClr val="0B0B0B"/>
                </a:solidFill>
                <a:latin typeface="Segoe UI"/>
              </a:rPr>
              <a:t>5 seed</a:t>
            </a:r>
            <a:r>
              <a:rPr sz="1600" b="0">
                <a:solidFill>
                  <a:srgbClr val="0B0B0B"/>
                </a:solidFill>
                <a:latin typeface="Segoe UI"/>
              </a:rPr>
              <a:t> cho dòng 0 và dòng 4 — việc này </a:t>
            </a:r>
            <a:r>
              <a:rPr sz="1600" b="1">
                <a:solidFill>
                  <a:srgbClr val="0B0B0B"/>
                </a:solidFill>
                <a:latin typeface="Segoe UI"/>
              </a:rPr>
              <a:t>chặn tất cả</a:t>
            </a:r>
            <a:r>
              <a:rPr sz="1600" b="0">
                <a:solidFill>
                  <a:srgbClr val="0B0B0B"/>
                </a:solidFill>
                <a:latin typeface="Segoe UI"/>
              </a:rPr>
              <a:t> những việc còn lại</a:t>
            </a:r>
          </a:p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2.</a:t>
            </a:r>
            <a:r>
              <a:rPr sz="1600" b="0">
                <a:solidFill>
                  <a:srgbClr val="0B0B0B"/>
                </a:solidFill>
                <a:latin typeface="Segoe UI"/>
              </a:rPr>
              <a:t>  Xem lại cách chọn mô hình — trung bình N epoch cuối thay vì cực đại trên test</a:t>
            </a:r>
          </a:p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3.</a:t>
            </a:r>
            <a:r>
              <a:rPr sz="1600" b="0">
                <a:solidFill>
                  <a:srgbClr val="0B0B0B"/>
                </a:solidFill>
                <a:latin typeface="Segoe UI"/>
              </a:rPr>
              <a:t>  Hiệu chỉnh theo </a:t>
            </a:r>
            <a:r>
              <a:rPr sz="1600" b="1">
                <a:solidFill>
                  <a:srgbClr val="0B0B0B"/>
                </a:solidFill>
                <a:latin typeface="Segoe UI"/>
              </a:rPr>
              <a:t>độ lệch prior train → test</a:t>
            </a:r>
            <a:r>
              <a:rPr sz="1600" b="0">
                <a:solidFill>
                  <a:srgbClr val="0B0B0B"/>
                </a:solidFill>
                <a:latin typeface="Segoe UI"/>
              </a:rPr>
              <a:t> — oracle chỉ ra +1,17, không cần train lại</a:t>
            </a:r>
          </a:p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4.</a:t>
            </a:r>
            <a:r>
              <a:rPr sz="1600" b="0">
                <a:solidFill>
                  <a:srgbClr val="0B0B0B"/>
                </a:solidFill>
                <a:latin typeface="Segoe UI"/>
              </a:rPr>
              <a:t>  Tấn công mất cân bằng </a:t>
            </a:r>
            <a:r>
              <a:rPr sz="1600" b="1">
                <a:solidFill>
                  <a:srgbClr val="0B0B0B"/>
                </a:solidFill>
                <a:latin typeface="Segoe UI"/>
              </a:rPr>
              <a:t>bên trong nhóm bất thường</a:t>
            </a:r>
            <a:r>
              <a:rPr sz="1600" b="0">
                <a:solidFill>
                  <a:srgbClr val="0B0B0B"/>
                </a:solidFill>
                <a:latin typeface="Segoe UI"/>
              </a:rPr>
              <a:t> — both chỉ có 506 chu kỳ</a:t>
            </a:r>
          </a:p>
          <a:p>
            <a:pPr>
              <a:lnSpc>
                <a:spcPct val="128000"/>
              </a:lnSpc>
              <a:spcAft>
                <a:spcPts val="1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5.</a:t>
            </a:r>
            <a:r>
              <a:rPr sz="1600" b="0">
                <a:solidFill>
                  <a:srgbClr val="0B0B0B"/>
                </a:solidFill>
                <a:latin typeface="Segoe UI"/>
              </a:rPr>
              <a:t>  </a:t>
            </a:r>
            <a:r>
              <a:rPr sz="1600" b="1">
                <a:solidFill>
                  <a:srgbClr val="0B0B0B"/>
                </a:solidFill>
                <a:latin typeface="Segoe UI"/>
              </a:rPr>
              <a:t>Thích ứng theo thiết bị</a:t>
            </a:r>
            <a:r>
              <a:rPr sz="1600" b="0">
                <a:solidFill>
                  <a:srgbClr val="0B0B0B"/>
                </a:solidFill>
                <a:latin typeface="Segoe UI"/>
              </a:rPr>
              <a:t> — khe hở 12,7 điểm là lớn nhất mà số liệu chỉ ra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85855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8A8984"/>
                </a:solidFill>
                <a:latin typeface="Segoe UI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651760"/>
            <a:ext cx="1087495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>
                <a:solidFill>
                  <a:srgbClr val="0B0B0B"/>
                </a:solidFill>
                <a:latin typeface="Segoe UI"/>
              </a:rPr>
              <a:t>Cảm ơn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611880"/>
            <a:ext cx="14630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5655</Words>
  <Application>Microsoft Office PowerPoint</Application>
  <PresentationFormat>Widescreen</PresentationFormat>
  <Paragraphs>668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KD ᓚᘏᗢ</cp:lastModifiedBy>
  <cp:revision>5</cp:revision>
  <dcterms:created xsi:type="dcterms:W3CDTF">2013-01-27T09:14:16Z</dcterms:created>
  <dcterms:modified xsi:type="dcterms:W3CDTF">2026-09-06T07:43:26Z</dcterms:modified>
  <cp:category/>
</cp:coreProperties>
</file>